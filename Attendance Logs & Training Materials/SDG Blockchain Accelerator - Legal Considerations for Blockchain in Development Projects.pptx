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oppins"/>
      <p:regular r:id="rId20"/>
      <p:bold r:id="rId21"/>
      <p:italic r:id="rId22"/>
      <p:boldItalic r:id="rId23"/>
    </p:embeddedFont>
    <p:embeddedFont>
      <p:font typeface="Montserrat"/>
      <p:regular r:id="rId24"/>
      <p:bold r:id="rId25"/>
      <p:italic r:id="rId26"/>
      <p:boldItalic r:id="rId27"/>
    </p:embeddedFont>
    <p:embeddedFont>
      <p:font typeface="Montserrat Medium"/>
      <p:regular r:id="rId28"/>
      <p:bold r:id="rId29"/>
      <p:italic r:id="rId30"/>
      <p:boldItalic r:id="rId31"/>
    </p:embeddedFont>
    <p:embeddedFont>
      <p:font typeface="Poppins Light"/>
      <p:regular r:id="rId32"/>
      <p:bold r:id="rId33"/>
      <p:italic r:id="rId34"/>
      <p:boldItalic r:id="rId35"/>
    </p:embeddedFont>
    <p:embeddedFont>
      <p:font typeface="Poppins Medium"/>
      <p:regular r:id="rId36"/>
      <p:bold r:id="rId37"/>
      <p:italic r:id="rId38"/>
      <p:boldItalic r:id="rId39"/>
    </p:embeddedFont>
    <p:embeddedFont>
      <p:font typeface="Poppins SemiBold"/>
      <p:regular r:id="rId40"/>
      <p:bold r:id="rId41"/>
      <p:italic r:id="rId42"/>
      <p:boldItalic r:id="rId43"/>
    </p:embeddedFont>
    <p:embeddedFont>
      <p:font typeface="Poppins ExtraBold"/>
      <p:bold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79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9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regular.fntdata"/><Relationship Id="rId20" Type="http://schemas.openxmlformats.org/officeDocument/2006/relationships/font" Target="fonts/Poppins-regular.fntdata"/><Relationship Id="rId42" Type="http://schemas.openxmlformats.org/officeDocument/2006/relationships/font" Target="fonts/PoppinsSemiBold-italic.fntdata"/><Relationship Id="rId41" Type="http://schemas.openxmlformats.org/officeDocument/2006/relationships/font" Target="fonts/PoppinsSemiBold-bold.fntdata"/><Relationship Id="rId22" Type="http://schemas.openxmlformats.org/officeDocument/2006/relationships/font" Target="fonts/Poppins-italic.fntdata"/><Relationship Id="rId44" Type="http://schemas.openxmlformats.org/officeDocument/2006/relationships/font" Target="fonts/PoppinsExtraBold-bold.fntdata"/><Relationship Id="rId21" Type="http://schemas.openxmlformats.org/officeDocument/2006/relationships/font" Target="fonts/Poppins-bold.fntdata"/><Relationship Id="rId43" Type="http://schemas.openxmlformats.org/officeDocument/2006/relationships/font" Target="fonts/PoppinsSemiBold-boldItalic.fntdata"/><Relationship Id="rId24" Type="http://schemas.openxmlformats.org/officeDocument/2006/relationships/font" Target="fonts/Montserrat-regular.fntdata"/><Relationship Id="rId23" Type="http://schemas.openxmlformats.org/officeDocument/2006/relationships/font" Target="fonts/Poppins-boldItalic.fntdata"/><Relationship Id="rId45" Type="http://schemas.openxmlformats.org/officeDocument/2006/relationships/font" Target="fonts/Poppins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MontserratMedium-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boldItalic.fntdata"/><Relationship Id="rId30" Type="http://schemas.openxmlformats.org/officeDocument/2006/relationships/font" Target="fonts/MontserratMedium-italic.fntdata"/><Relationship Id="rId11" Type="http://schemas.openxmlformats.org/officeDocument/2006/relationships/slide" Target="slides/slide6.xml"/><Relationship Id="rId33" Type="http://schemas.openxmlformats.org/officeDocument/2006/relationships/font" Target="fonts/PoppinsLight-bold.fntdata"/><Relationship Id="rId10" Type="http://schemas.openxmlformats.org/officeDocument/2006/relationships/slide" Target="slides/slide5.xml"/><Relationship Id="rId32" Type="http://schemas.openxmlformats.org/officeDocument/2006/relationships/font" Target="fonts/PoppinsLight-regular.fntdata"/><Relationship Id="rId13" Type="http://schemas.openxmlformats.org/officeDocument/2006/relationships/slide" Target="slides/slide8.xml"/><Relationship Id="rId35" Type="http://schemas.openxmlformats.org/officeDocument/2006/relationships/font" Target="fonts/PoppinsLight-boldItalic.fntdata"/><Relationship Id="rId12" Type="http://schemas.openxmlformats.org/officeDocument/2006/relationships/slide" Target="slides/slide7.xml"/><Relationship Id="rId34" Type="http://schemas.openxmlformats.org/officeDocument/2006/relationships/font" Target="fonts/PoppinsLight-italic.fntdata"/><Relationship Id="rId15" Type="http://schemas.openxmlformats.org/officeDocument/2006/relationships/slide" Target="slides/slide10.xml"/><Relationship Id="rId37" Type="http://schemas.openxmlformats.org/officeDocument/2006/relationships/font" Target="fonts/PoppinsMedium-bold.fntdata"/><Relationship Id="rId14" Type="http://schemas.openxmlformats.org/officeDocument/2006/relationships/slide" Target="slides/slide9.xml"/><Relationship Id="rId36" Type="http://schemas.openxmlformats.org/officeDocument/2006/relationships/font" Target="fonts/PoppinsMedium-regular.fntdata"/><Relationship Id="rId17" Type="http://schemas.openxmlformats.org/officeDocument/2006/relationships/slide" Target="slides/slide12.xml"/><Relationship Id="rId39" Type="http://schemas.openxmlformats.org/officeDocument/2006/relationships/font" Target="fonts/PoppinsMedium-boldItalic.fntdata"/><Relationship Id="rId16" Type="http://schemas.openxmlformats.org/officeDocument/2006/relationships/slide" Target="slides/slide11.xml"/><Relationship Id="rId38" Type="http://schemas.openxmlformats.org/officeDocument/2006/relationships/font" Target="fonts/Poppins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b2d5037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6b2d5037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5192e5475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5192e5475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192e5475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192e5475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9430bc8f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9430bc8f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9430bc8f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9430bc8f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b2d5037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b2d5037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b2d50378c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6b2d50378c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9430bc8f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79430bc8f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99eb0004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99eb0004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9430bc8f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9430bc8f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99eb0004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99eb0004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9430bc8f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79430bc8f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3b31b348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53b31b348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hyperlink" Target="https://innovation.eurasia.undp.org/sdg-blockchain-accelerator-call-for-blockchain-solution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2.jp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11" Type="http://schemas.openxmlformats.org/officeDocument/2006/relationships/image" Target="../media/image10.jpg"/><Relationship Id="rId10" Type="http://schemas.openxmlformats.org/officeDocument/2006/relationships/image" Target="../media/image11.jpg"/><Relationship Id="rId12" Type="http://schemas.openxmlformats.org/officeDocument/2006/relationships/image" Target="../media/image12.png"/><Relationship Id="rId9" Type="http://schemas.openxmlformats.org/officeDocument/2006/relationships/image" Target="../media/image9.jp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5.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image" Target="../media/image4.png"/><Relationship Id="rId8"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700006" scaled="0"/>
        </a:gradFill>
      </p:bgPr>
    </p:bg>
    <p:spTree>
      <p:nvGrpSpPr>
        <p:cNvPr id="53" name="Shape 53"/>
        <p:cNvGrpSpPr/>
        <p:nvPr/>
      </p:nvGrpSpPr>
      <p:grpSpPr>
        <a:xfrm>
          <a:off x="0" y="0"/>
          <a:ext cx="0" cy="0"/>
          <a:chOff x="0" y="0"/>
          <a:chExt cx="0" cy="0"/>
        </a:xfrm>
      </p:grpSpPr>
      <p:pic>
        <p:nvPicPr>
          <p:cNvPr id="54" name="Google Shape;54;p13" title="Element.png"/>
          <p:cNvPicPr preferRelativeResize="0"/>
          <p:nvPr/>
        </p:nvPicPr>
        <p:blipFill rotWithShape="1">
          <a:blip r:embed="rId3">
            <a:alphaModFix/>
          </a:blip>
          <a:srcRect b="0" l="0" r="42485" t="28987"/>
          <a:stretch/>
        </p:blipFill>
        <p:spPr>
          <a:xfrm>
            <a:off x="7820575" y="0"/>
            <a:ext cx="1323425" cy="1649326"/>
          </a:xfrm>
          <a:prstGeom prst="rect">
            <a:avLst/>
          </a:prstGeom>
          <a:noFill/>
          <a:ln>
            <a:noFill/>
          </a:ln>
        </p:spPr>
      </p:pic>
      <p:grpSp>
        <p:nvGrpSpPr>
          <p:cNvPr id="55" name="Google Shape;55;p13"/>
          <p:cNvGrpSpPr/>
          <p:nvPr/>
        </p:nvGrpSpPr>
        <p:grpSpPr>
          <a:xfrm>
            <a:off x="1194731" y="221455"/>
            <a:ext cx="6754532" cy="1758734"/>
            <a:chOff x="0" y="0"/>
            <a:chExt cx="9006042" cy="2344978"/>
          </a:xfrm>
        </p:grpSpPr>
        <p:sp>
          <p:nvSpPr>
            <p:cNvPr id="56" name="Google Shape;56;p13"/>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57" name="Google Shape;57;p13"/>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58" name="Google Shape;58;p13"/>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grpSp>
      <p:sp>
        <p:nvSpPr>
          <p:cNvPr id="59" name="Google Shape;59;p13"/>
          <p:cNvSpPr txBox="1"/>
          <p:nvPr/>
        </p:nvSpPr>
        <p:spPr>
          <a:xfrm>
            <a:off x="1323438" y="2040625"/>
            <a:ext cx="6497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900">
                <a:solidFill>
                  <a:srgbClr val="FFFFFF"/>
                </a:solidFill>
                <a:latin typeface="Poppins ExtraBold"/>
                <a:ea typeface="Poppins ExtraBold"/>
                <a:cs typeface="Poppins ExtraBold"/>
                <a:sym typeface="Poppins ExtraBold"/>
              </a:rPr>
              <a:t>SDG BLOCKCHAIN ACCELERATOR</a:t>
            </a:r>
            <a:endParaRPr sz="2900">
              <a:solidFill>
                <a:srgbClr val="FFFFFF"/>
              </a:solidFill>
              <a:latin typeface="Poppins ExtraBold"/>
              <a:ea typeface="Poppins ExtraBold"/>
              <a:cs typeface="Poppins ExtraBold"/>
              <a:sym typeface="Poppins ExtraBold"/>
            </a:endParaRPr>
          </a:p>
        </p:txBody>
      </p:sp>
      <p:cxnSp>
        <p:nvCxnSpPr>
          <p:cNvPr id="60" name="Google Shape;60;p13"/>
          <p:cNvCxnSpPr/>
          <p:nvPr/>
        </p:nvCxnSpPr>
        <p:spPr>
          <a:xfrm>
            <a:off x="1769700" y="2722200"/>
            <a:ext cx="5604600" cy="0"/>
          </a:xfrm>
          <a:prstGeom prst="straightConnector1">
            <a:avLst/>
          </a:prstGeom>
          <a:noFill/>
          <a:ln cap="flat" cmpd="sng" w="19050">
            <a:solidFill>
              <a:srgbClr val="FBC410"/>
            </a:solidFill>
            <a:prstDash val="solid"/>
            <a:round/>
            <a:headEnd len="med" w="med" type="none"/>
            <a:tailEnd len="med" w="med" type="none"/>
          </a:ln>
        </p:spPr>
      </p:cxnSp>
      <p:sp>
        <p:nvSpPr>
          <p:cNvPr id="61" name="Google Shape;61;p13"/>
          <p:cNvSpPr/>
          <p:nvPr/>
        </p:nvSpPr>
        <p:spPr>
          <a:xfrm rot="1992165">
            <a:off x="-1579015" y="3915825"/>
            <a:ext cx="3194968" cy="1751907"/>
          </a:xfrm>
          <a:custGeom>
            <a:rect b="b" l="l" r="r" t="t"/>
            <a:pathLst>
              <a:path extrusionOk="0" h="3069921" w="5598641">
                <a:moveTo>
                  <a:pt x="0" y="0"/>
                </a:moveTo>
                <a:lnTo>
                  <a:pt x="5598640" y="0"/>
                </a:lnTo>
                <a:lnTo>
                  <a:pt x="5598640" y="3069921"/>
                </a:lnTo>
                <a:lnTo>
                  <a:pt x="0" y="3069921"/>
                </a:lnTo>
                <a:lnTo>
                  <a:pt x="0" y="0"/>
                </a:lnTo>
                <a:close/>
              </a:path>
            </a:pathLst>
          </a:custGeom>
          <a:blipFill rotWithShape="1">
            <a:blip r:embed="rId7">
              <a:alphaModFix/>
            </a:blip>
            <a:stretch>
              <a:fillRect b="0" l="0" r="0" t="0"/>
            </a:stretch>
          </a:blipFill>
          <a:ln>
            <a:noFill/>
          </a:ln>
        </p:spPr>
      </p:sp>
      <p:sp>
        <p:nvSpPr>
          <p:cNvPr id="62" name="Google Shape;62;p13">
            <a:hlinkClick r:id="rId8"/>
          </p:cNvPr>
          <p:cNvSpPr/>
          <p:nvPr/>
        </p:nvSpPr>
        <p:spPr>
          <a:xfrm>
            <a:off x="2178288" y="2803850"/>
            <a:ext cx="4787400" cy="7386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500">
                <a:solidFill>
                  <a:schemeClr val="lt1"/>
                </a:solidFill>
                <a:latin typeface="Poppins SemiBold"/>
                <a:ea typeface="Poppins SemiBold"/>
                <a:cs typeface="Poppins SemiBold"/>
                <a:sym typeface="Poppins SemiBold"/>
              </a:rPr>
              <a:t>Legal Considerations for Blockchain </a:t>
            </a:r>
            <a:endParaRPr sz="1500">
              <a:solidFill>
                <a:schemeClr val="lt1"/>
              </a:solidFill>
              <a:latin typeface="Poppins SemiBold"/>
              <a:ea typeface="Poppins SemiBold"/>
              <a:cs typeface="Poppins SemiBold"/>
              <a:sym typeface="Poppins SemiBold"/>
            </a:endParaRPr>
          </a:p>
          <a:p>
            <a:pPr indent="0" lvl="0" marL="0" rtl="0" algn="ctr">
              <a:spcBef>
                <a:spcPts val="0"/>
              </a:spcBef>
              <a:spcAft>
                <a:spcPts val="0"/>
              </a:spcAft>
              <a:buClr>
                <a:schemeClr val="dk1"/>
              </a:buClr>
              <a:buSzPts val="1100"/>
              <a:buFont typeface="Arial"/>
              <a:buNone/>
            </a:pPr>
            <a:r>
              <a:rPr lang="en" sz="1500">
                <a:solidFill>
                  <a:schemeClr val="lt1"/>
                </a:solidFill>
                <a:latin typeface="Poppins SemiBold"/>
                <a:ea typeface="Poppins SemiBold"/>
                <a:cs typeface="Poppins SemiBold"/>
                <a:sym typeface="Poppins SemiBold"/>
              </a:rPr>
              <a:t>in Development Projects</a:t>
            </a:r>
            <a:endParaRPr b="1" sz="1300">
              <a:solidFill>
                <a:schemeClr val="lt1"/>
              </a:solidFill>
              <a:latin typeface="Poppins"/>
              <a:ea typeface="Poppins"/>
              <a:cs typeface="Poppins"/>
              <a:sym typeface="Poppins"/>
            </a:endParaRPr>
          </a:p>
        </p:txBody>
      </p:sp>
      <p:sp>
        <p:nvSpPr>
          <p:cNvPr id="63" name="Google Shape;63;p13"/>
          <p:cNvSpPr txBox="1"/>
          <p:nvPr/>
        </p:nvSpPr>
        <p:spPr>
          <a:xfrm>
            <a:off x="1737600" y="3714625"/>
            <a:ext cx="5668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Poppins ExtraBold"/>
                <a:ea typeface="Poppins ExtraBold"/>
                <a:cs typeface="Poppins ExtraBold"/>
                <a:sym typeface="Poppins ExtraBold"/>
              </a:rPr>
              <a:t> Navigating Regulation, Data, and Accountability in Development Contexts</a:t>
            </a:r>
            <a:endParaRPr sz="1200">
              <a:solidFill>
                <a:srgbClr val="FFFFFF"/>
              </a:solidFill>
              <a:latin typeface="Poppins ExtraBold"/>
              <a:ea typeface="Poppins ExtraBold"/>
              <a:cs typeface="Poppins ExtraBold"/>
              <a:sym typeface="Poppi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67" name="Shape 67"/>
        <p:cNvGrpSpPr/>
        <p:nvPr/>
      </p:nvGrpSpPr>
      <p:grpSpPr>
        <a:xfrm>
          <a:off x="0" y="0"/>
          <a:ext cx="0" cy="0"/>
          <a:chOff x="0" y="0"/>
          <a:chExt cx="0" cy="0"/>
        </a:xfrm>
      </p:grpSpPr>
      <p:sp>
        <p:nvSpPr>
          <p:cNvPr id="68" name="Google Shape;68;p14"/>
          <p:cNvSpPr txBox="1"/>
          <p:nvPr>
            <p:ph idx="1" type="subTitle"/>
          </p:nvPr>
        </p:nvSpPr>
        <p:spPr>
          <a:xfrm>
            <a:off x="387900" y="2895950"/>
            <a:ext cx="5588400" cy="1504800"/>
          </a:xfrm>
          <a:prstGeom prst="rect">
            <a:avLst/>
          </a:prstGeom>
        </p:spPr>
        <p:txBody>
          <a:bodyPr anchorCtr="0" anchor="t" bIns="91425" lIns="91425" spcFirstLastPara="1" rIns="91425" wrap="square" tIns="91425">
            <a:noAutofit/>
          </a:bodyPr>
          <a:lstStyle/>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Understand the regulatory environment for blockchain in development.</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Explore data protection &amp; privacy challenges.</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Clarify liability &amp; accountability in blockchain projects.</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Review intellectual property and contractual considerations.</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Learn practical tools for compliance and governance.</a:t>
            </a:r>
            <a:endParaRPr sz="1200">
              <a:solidFill>
                <a:srgbClr val="FFFFFF"/>
              </a:solidFill>
              <a:latin typeface="Poppins"/>
              <a:ea typeface="Poppins"/>
              <a:cs typeface="Poppins"/>
              <a:sym typeface="Poppins"/>
            </a:endParaRPr>
          </a:p>
        </p:txBody>
      </p:sp>
      <p:pic>
        <p:nvPicPr>
          <p:cNvPr id="69" name="Google Shape;69;p14" title="Element.png"/>
          <p:cNvPicPr preferRelativeResize="0"/>
          <p:nvPr/>
        </p:nvPicPr>
        <p:blipFill rotWithShape="1">
          <a:blip r:embed="rId3">
            <a:alphaModFix/>
          </a:blip>
          <a:srcRect b="0" l="33590" r="0" t="67210"/>
          <a:stretch/>
        </p:blipFill>
        <p:spPr>
          <a:xfrm>
            <a:off x="-1" y="0"/>
            <a:ext cx="1528126" cy="761549"/>
          </a:xfrm>
          <a:prstGeom prst="rect">
            <a:avLst/>
          </a:prstGeom>
          <a:noFill/>
          <a:ln>
            <a:noFill/>
          </a:ln>
        </p:spPr>
      </p:pic>
      <p:sp>
        <p:nvSpPr>
          <p:cNvPr id="70" name="Google Shape;70;p14"/>
          <p:cNvSpPr txBox="1"/>
          <p:nvPr/>
        </p:nvSpPr>
        <p:spPr>
          <a:xfrm>
            <a:off x="-117125" y="656325"/>
            <a:ext cx="49665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Workshop Objectives</a:t>
            </a:r>
            <a:endParaRPr sz="2300">
              <a:solidFill>
                <a:srgbClr val="FFFFFF"/>
              </a:solidFill>
              <a:latin typeface="Poppins ExtraBold"/>
              <a:ea typeface="Poppins ExtraBold"/>
              <a:cs typeface="Poppins ExtraBold"/>
              <a:sym typeface="Poppins ExtraBold"/>
            </a:endParaRPr>
          </a:p>
        </p:txBody>
      </p:sp>
      <p:cxnSp>
        <p:nvCxnSpPr>
          <p:cNvPr id="71" name="Google Shape;71;p14"/>
          <p:cNvCxnSpPr/>
          <p:nvPr/>
        </p:nvCxnSpPr>
        <p:spPr>
          <a:xfrm>
            <a:off x="711600" y="1167313"/>
            <a:ext cx="5792400" cy="0"/>
          </a:xfrm>
          <a:prstGeom prst="straightConnector1">
            <a:avLst/>
          </a:prstGeom>
          <a:noFill/>
          <a:ln cap="flat" cmpd="sng" w="19050">
            <a:solidFill>
              <a:srgbClr val="FBC410"/>
            </a:solidFill>
            <a:prstDash val="solid"/>
            <a:round/>
            <a:headEnd len="med" w="med" type="none"/>
            <a:tailEnd len="med" w="med" type="none"/>
          </a:ln>
        </p:spPr>
      </p:cxnSp>
      <p:sp>
        <p:nvSpPr>
          <p:cNvPr id="72" name="Google Shape;72;p14"/>
          <p:cNvSpPr/>
          <p:nvPr/>
        </p:nvSpPr>
        <p:spPr>
          <a:xfrm>
            <a:off x="6644727" y="3584205"/>
            <a:ext cx="2155118" cy="708495"/>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73" name="Google Shape;73;p14"/>
          <p:cNvSpPr/>
          <p:nvPr/>
        </p:nvSpPr>
        <p:spPr>
          <a:xfrm>
            <a:off x="6946002" y="1318302"/>
            <a:ext cx="1465611" cy="1465611"/>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74" name="Google Shape;74;p14"/>
          <p:cNvSpPr/>
          <p:nvPr/>
        </p:nvSpPr>
        <p:spPr>
          <a:xfrm>
            <a:off x="6820992" y="2895957"/>
            <a:ext cx="1802368" cy="486639"/>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sp>
        <p:nvSpPr>
          <p:cNvPr id="75" name="Google Shape;75;p14"/>
          <p:cNvSpPr/>
          <p:nvPr/>
        </p:nvSpPr>
        <p:spPr>
          <a:xfrm>
            <a:off x="7091194" y="3898742"/>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7">
              <a:alphaModFix/>
            </a:blip>
            <a:stretch>
              <a:fillRect b="0" l="0" r="0" t="0"/>
            </a:stretch>
          </a:blipFill>
          <a:ln>
            <a:noFill/>
          </a:ln>
        </p:spPr>
      </p:sp>
      <p:sp>
        <p:nvSpPr>
          <p:cNvPr id="76" name="Google Shape;76;p14"/>
          <p:cNvSpPr/>
          <p:nvPr/>
        </p:nvSpPr>
        <p:spPr>
          <a:xfrm>
            <a:off x="431100" y="2407232"/>
            <a:ext cx="3218100" cy="383700"/>
          </a:xfrm>
          <a:prstGeom prst="rect">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lt1"/>
                </a:solidFill>
                <a:latin typeface="Poppins"/>
                <a:ea typeface="Poppins"/>
                <a:cs typeface="Poppins"/>
                <a:sym typeface="Poppins"/>
              </a:rPr>
              <a:t>Our Objectives today are:</a:t>
            </a:r>
            <a:endParaRPr b="1">
              <a:latin typeface="Poppins"/>
              <a:ea typeface="Poppins"/>
              <a:cs typeface="Poppins"/>
              <a:sym typeface="Poppins"/>
            </a:endParaRPr>
          </a:p>
        </p:txBody>
      </p:sp>
      <p:sp>
        <p:nvSpPr>
          <p:cNvPr id="77" name="Google Shape;77;p14"/>
          <p:cNvSpPr txBox="1"/>
          <p:nvPr/>
        </p:nvSpPr>
        <p:spPr>
          <a:xfrm>
            <a:off x="379250" y="1423050"/>
            <a:ext cx="6466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latin typeface="Poppins"/>
                <a:ea typeface="Poppins"/>
                <a:cs typeface="Poppins"/>
                <a:sym typeface="Poppins"/>
              </a:rPr>
              <a:t>Blockchain is increasingly used in international development, from digital identity systems to financial inclusion and climate action. While promising, these projects face unique legal and regulatory challenges that must be addressed early to ensure compliance, adoption, and sustainability.</a:t>
            </a:r>
            <a:endParaRPr sz="110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700006" scaled="0"/>
        </a:gradFill>
      </p:bgPr>
    </p:bg>
    <p:spTree>
      <p:nvGrpSpPr>
        <p:cNvPr id="81" name="Shape 81"/>
        <p:cNvGrpSpPr/>
        <p:nvPr/>
      </p:nvGrpSpPr>
      <p:grpSpPr>
        <a:xfrm>
          <a:off x="0" y="0"/>
          <a:ext cx="0" cy="0"/>
          <a:chOff x="0" y="0"/>
          <a:chExt cx="0" cy="0"/>
        </a:xfrm>
      </p:grpSpPr>
      <p:sp>
        <p:nvSpPr>
          <p:cNvPr id="82" name="Google Shape;82;p15"/>
          <p:cNvSpPr/>
          <p:nvPr/>
        </p:nvSpPr>
        <p:spPr>
          <a:xfrm>
            <a:off x="5744875" y="1501500"/>
            <a:ext cx="2943600" cy="2943600"/>
          </a:xfrm>
          <a:prstGeom prst="ellipse">
            <a:avLst/>
          </a:prstGeom>
          <a:noFill/>
          <a:ln cap="flat" cmpd="sng" w="9525">
            <a:solidFill>
              <a:srgbClr val="26BDE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3" name="Google Shape;83;p15"/>
          <p:cNvGrpSpPr/>
          <p:nvPr/>
        </p:nvGrpSpPr>
        <p:grpSpPr>
          <a:xfrm>
            <a:off x="4749604" y="151277"/>
            <a:ext cx="4231939" cy="1102140"/>
            <a:chOff x="0" y="0"/>
            <a:chExt cx="9006042" cy="2344978"/>
          </a:xfrm>
        </p:grpSpPr>
        <p:sp>
          <p:nvSpPr>
            <p:cNvPr id="84" name="Google Shape;84;p15"/>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85" name="Google Shape;85;p15"/>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86" name="Google Shape;86;p15"/>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sp>
        <p:nvSpPr>
          <p:cNvPr id="87" name="Google Shape;87;p15"/>
          <p:cNvSpPr/>
          <p:nvPr/>
        </p:nvSpPr>
        <p:spPr>
          <a:xfrm>
            <a:off x="7091194" y="3898742"/>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6">
              <a:alphaModFix/>
            </a:blip>
            <a:stretch>
              <a:fillRect b="0" l="0" r="0" t="0"/>
            </a:stretch>
          </a:blipFill>
          <a:ln>
            <a:noFill/>
          </a:ln>
        </p:spPr>
      </p:sp>
      <p:sp>
        <p:nvSpPr>
          <p:cNvPr id="88" name="Google Shape;88;p15"/>
          <p:cNvSpPr txBox="1"/>
          <p:nvPr/>
        </p:nvSpPr>
        <p:spPr>
          <a:xfrm>
            <a:off x="431100" y="317425"/>
            <a:ext cx="4194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Why Legal </a:t>
            </a:r>
            <a:r>
              <a:rPr lang="en" sz="2300">
                <a:solidFill>
                  <a:srgbClr val="FFFFFF"/>
                </a:solidFill>
                <a:latin typeface="Poppins ExtraBold"/>
                <a:ea typeface="Poppins ExtraBold"/>
                <a:cs typeface="Poppins ExtraBold"/>
                <a:sym typeface="Poppins ExtraBold"/>
              </a:rPr>
              <a:t>Considerations</a:t>
            </a:r>
            <a:r>
              <a:rPr lang="en" sz="2300">
                <a:solidFill>
                  <a:srgbClr val="FFFFFF"/>
                </a:solidFill>
                <a:latin typeface="Poppins ExtraBold"/>
                <a:ea typeface="Poppins ExtraBold"/>
                <a:cs typeface="Poppins ExtraBold"/>
                <a:sym typeface="Poppins ExtraBold"/>
              </a:rPr>
              <a:t> Matters?</a:t>
            </a:r>
            <a:endParaRPr sz="2300">
              <a:solidFill>
                <a:srgbClr val="FFFFFF"/>
              </a:solidFill>
              <a:latin typeface="Poppins ExtraBold"/>
              <a:ea typeface="Poppins ExtraBold"/>
              <a:cs typeface="Poppins ExtraBold"/>
              <a:sym typeface="Poppins ExtraBold"/>
            </a:endParaRPr>
          </a:p>
        </p:txBody>
      </p:sp>
      <p:cxnSp>
        <p:nvCxnSpPr>
          <p:cNvPr id="89" name="Google Shape;89;p15"/>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90" name="Google Shape;90;p15"/>
          <p:cNvSpPr txBox="1"/>
          <p:nvPr/>
        </p:nvSpPr>
        <p:spPr>
          <a:xfrm>
            <a:off x="802225" y="2594850"/>
            <a:ext cx="4136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Poppins"/>
                <a:ea typeface="Poppins"/>
                <a:cs typeface="Poppins"/>
                <a:sym typeface="Poppins"/>
              </a:rPr>
              <a:t>Regulations differ widely between countries and regions</a:t>
            </a:r>
            <a:endParaRPr b="1" sz="1100">
              <a:solidFill>
                <a:schemeClr val="lt1"/>
              </a:solidFill>
              <a:latin typeface="Poppins"/>
              <a:ea typeface="Poppins"/>
              <a:cs typeface="Poppins"/>
              <a:sym typeface="Poppins"/>
            </a:endParaRPr>
          </a:p>
        </p:txBody>
      </p:sp>
      <p:sp>
        <p:nvSpPr>
          <p:cNvPr id="91" name="Google Shape;91;p15"/>
          <p:cNvSpPr/>
          <p:nvPr/>
        </p:nvSpPr>
        <p:spPr>
          <a:xfrm>
            <a:off x="550500" y="2704281"/>
            <a:ext cx="161100" cy="161100"/>
          </a:xfrm>
          <a:prstGeom prst="ellipse">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txBox="1"/>
          <p:nvPr/>
        </p:nvSpPr>
        <p:spPr>
          <a:xfrm>
            <a:off x="786475" y="3052025"/>
            <a:ext cx="416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Poppins"/>
                <a:ea typeface="Poppins"/>
                <a:cs typeface="Poppins"/>
                <a:sym typeface="Poppins"/>
              </a:rPr>
              <a:t>Non-compliance can result in fines, project shutdowns, or reputational harm</a:t>
            </a:r>
            <a:endParaRPr sz="1100">
              <a:solidFill>
                <a:schemeClr val="lt1"/>
              </a:solidFill>
              <a:latin typeface="Poppins Medium"/>
              <a:ea typeface="Poppins Medium"/>
              <a:cs typeface="Poppins Medium"/>
              <a:sym typeface="Poppins Medium"/>
            </a:endParaRPr>
          </a:p>
        </p:txBody>
      </p:sp>
      <p:sp>
        <p:nvSpPr>
          <p:cNvPr id="93" name="Google Shape;93;p15"/>
          <p:cNvSpPr/>
          <p:nvPr/>
        </p:nvSpPr>
        <p:spPr>
          <a:xfrm>
            <a:off x="550500" y="3153981"/>
            <a:ext cx="161100" cy="161100"/>
          </a:xfrm>
          <a:prstGeom prst="ellipse">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txBox="1"/>
          <p:nvPr/>
        </p:nvSpPr>
        <p:spPr>
          <a:xfrm>
            <a:off x="786475" y="3464850"/>
            <a:ext cx="416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Poppins"/>
                <a:ea typeface="Poppins"/>
                <a:cs typeface="Poppins"/>
                <a:sym typeface="Poppins"/>
              </a:rPr>
              <a:t>Features like immutability and decentralization often clash with existing laws</a:t>
            </a:r>
            <a:endParaRPr sz="1100">
              <a:solidFill>
                <a:schemeClr val="lt1"/>
              </a:solidFill>
              <a:latin typeface="Poppins Medium"/>
              <a:ea typeface="Poppins Medium"/>
              <a:cs typeface="Poppins Medium"/>
              <a:sym typeface="Poppins Medium"/>
            </a:endParaRPr>
          </a:p>
        </p:txBody>
      </p:sp>
      <p:sp>
        <p:nvSpPr>
          <p:cNvPr id="95" name="Google Shape;95;p15"/>
          <p:cNvSpPr/>
          <p:nvPr/>
        </p:nvSpPr>
        <p:spPr>
          <a:xfrm>
            <a:off x="550500" y="3566806"/>
            <a:ext cx="161100" cy="161100"/>
          </a:xfrm>
          <a:prstGeom prst="ellipse">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5" title="istockphoto-2163444855-612x612.jpg"/>
          <p:cNvPicPr preferRelativeResize="0"/>
          <p:nvPr/>
        </p:nvPicPr>
        <p:blipFill rotWithShape="1">
          <a:blip r:embed="rId7">
            <a:alphaModFix/>
          </a:blip>
          <a:srcRect b="0" l="17160" r="17166" t="0"/>
          <a:stretch/>
        </p:blipFill>
        <p:spPr>
          <a:xfrm>
            <a:off x="5850625" y="1588446"/>
            <a:ext cx="2748600" cy="2776500"/>
          </a:xfrm>
          <a:prstGeom prst="ellipse">
            <a:avLst/>
          </a:prstGeom>
          <a:noFill/>
          <a:ln>
            <a:noFill/>
          </a:ln>
        </p:spPr>
      </p:pic>
      <p:sp>
        <p:nvSpPr>
          <p:cNvPr id="97" name="Google Shape;97;p15"/>
          <p:cNvSpPr txBox="1"/>
          <p:nvPr/>
        </p:nvSpPr>
        <p:spPr>
          <a:xfrm>
            <a:off x="431100" y="1572175"/>
            <a:ext cx="5313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Poppins Medium"/>
                <a:ea typeface="Poppins Medium"/>
                <a:cs typeface="Poppins Medium"/>
                <a:sym typeface="Poppins Medium"/>
              </a:rPr>
              <a:t>Implementing blockchain without addressing legal and regulatory issues can lead to project delays, shutdowns, or even harm to communities. Laws vary across countries, and development projects often operate in multi-jurisdictional environments.</a:t>
            </a:r>
            <a:endParaRPr sz="1000">
              <a:solidFill>
                <a:schemeClr val="lt1"/>
              </a:solidFill>
              <a:latin typeface="Poppins Medium"/>
              <a:ea typeface="Poppins Medium"/>
              <a:cs typeface="Poppins Medium"/>
              <a:sym typeface="Poppins Medium"/>
            </a:endParaRPr>
          </a:p>
        </p:txBody>
      </p:sp>
      <p:pic>
        <p:nvPicPr>
          <p:cNvPr id="98" name="Google Shape;98;p15" title="Element.png"/>
          <p:cNvPicPr preferRelativeResize="0"/>
          <p:nvPr/>
        </p:nvPicPr>
        <p:blipFill rotWithShape="1">
          <a:blip r:embed="rId8">
            <a:alphaModFix/>
          </a:blip>
          <a:srcRect b="0" l="33590" r="0" t="67210"/>
          <a:stretch/>
        </p:blipFill>
        <p:spPr>
          <a:xfrm>
            <a:off x="-1" y="0"/>
            <a:ext cx="1528126" cy="761549"/>
          </a:xfrm>
          <a:prstGeom prst="rect">
            <a:avLst/>
          </a:prstGeom>
          <a:noFill/>
          <a:ln>
            <a:noFill/>
          </a:ln>
        </p:spPr>
      </p:pic>
      <p:sp>
        <p:nvSpPr>
          <p:cNvPr id="99" name="Google Shape;99;p15"/>
          <p:cNvSpPr txBox="1"/>
          <p:nvPr/>
        </p:nvSpPr>
        <p:spPr>
          <a:xfrm>
            <a:off x="786475" y="3922050"/>
            <a:ext cx="416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Poppins"/>
                <a:ea typeface="Poppins"/>
                <a:cs typeface="Poppins"/>
                <a:sym typeface="Poppins"/>
              </a:rPr>
              <a:t>Development projects serve vulnerable groups, creating a higher duty of care for implementers.</a:t>
            </a:r>
            <a:endParaRPr sz="1100">
              <a:solidFill>
                <a:schemeClr val="lt1"/>
              </a:solidFill>
              <a:latin typeface="Poppins Medium"/>
              <a:ea typeface="Poppins Medium"/>
              <a:cs typeface="Poppins Medium"/>
              <a:sym typeface="Poppins Medium"/>
            </a:endParaRPr>
          </a:p>
        </p:txBody>
      </p:sp>
      <p:sp>
        <p:nvSpPr>
          <p:cNvPr id="100" name="Google Shape;100;p15"/>
          <p:cNvSpPr/>
          <p:nvPr/>
        </p:nvSpPr>
        <p:spPr>
          <a:xfrm>
            <a:off x="550500" y="4024006"/>
            <a:ext cx="161100" cy="161100"/>
          </a:xfrm>
          <a:prstGeom prst="ellipse">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700006" scaled="0"/>
        </a:gradFill>
      </p:bgPr>
    </p:bg>
    <p:spTree>
      <p:nvGrpSpPr>
        <p:cNvPr id="104" name="Shape 104"/>
        <p:cNvGrpSpPr/>
        <p:nvPr/>
      </p:nvGrpSpPr>
      <p:grpSpPr>
        <a:xfrm>
          <a:off x="0" y="0"/>
          <a:ext cx="0" cy="0"/>
          <a:chOff x="0" y="0"/>
          <a:chExt cx="0" cy="0"/>
        </a:xfrm>
      </p:grpSpPr>
      <p:grpSp>
        <p:nvGrpSpPr>
          <p:cNvPr id="105" name="Google Shape;105;p16"/>
          <p:cNvGrpSpPr/>
          <p:nvPr/>
        </p:nvGrpSpPr>
        <p:grpSpPr>
          <a:xfrm>
            <a:off x="4749604" y="151277"/>
            <a:ext cx="4231939" cy="1102140"/>
            <a:chOff x="0" y="0"/>
            <a:chExt cx="9006042" cy="2344978"/>
          </a:xfrm>
        </p:grpSpPr>
        <p:sp>
          <p:nvSpPr>
            <p:cNvPr id="106" name="Google Shape;106;p16"/>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107" name="Google Shape;107;p16"/>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108" name="Google Shape;108;p16"/>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sp>
        <p:nvSpPr>
          <p:cNvPr id="109" name="Google Shape;109;p16"/>
          <p:cNvSpPr txBox="1"/>
          <p:nvPr/>
        </p:nvSpPr>
        <p:spPr>
          <a:xfrm>
            <a:off x="-131225" y="622225"/>
            <a:ext cx="47442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FFFFFF"/>
                </a:solidFill>
                <a:latin typeface="Poppins ExtraBold"/>
                <a:ea typeface="Poppins ExtraBold"/>
                <a:cs typeface="Poppins ExtraBold"/>
                <a:sym typeface="Poppins ExtraBold"/>
              </a:rPr>
              <a:t>Key Legal Domains</a:t>
            </a:r>
            <a:endParaRPr sz="2000">
              <a:solidFill>
                <a:srgbClr val="FFFFFF"/>
              </a:solidFill>
              <a:latin typeface="Poppins ExtraBold"/>
              <a:ea typeface="Poppins ExtraBold"/>
              <a:cs typeface="Poppins ExtraBold"/>
              <a:sym typeface="Poppins ExtraBold"/>
            </a:endParaRPr>
          </a:p>
        </p:txBody>
      </p:sp>
      <p:sp>
        <p:nvSpPr>
          <p:cNvPr id="110" name="Google Shape;110;p16"/>
          <p:cNvSpPr/>
          <p:nvPr/>
        </p:nvSpPr>
        <p:spPr>
          <a:xfrm>
            <a:off x="7091194" y="3898742"/>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6">
              <a:alphaModFix/>
            </a:blip>
            <a:stretch>
              <a:fillRect b="0" l="0" r="0" t="0"/>
            </a:stretch>
          </a:blipFill>
          <a:ln>
            <a:noFill/>
          </a:ln>
        </p:spPr>
      </p:sp>
      <p:pic>
        <p:nvPicPr>
          <p:cNvPr id="111" name="Google Shape;111;p16" title="Element.png"/>
          <p:cNvPicPr preferRelativeResize="0"/>
          <p:nvPr/>
        </p:nvPicPr>
        <p:blipFill rotWithShape="1">
          <a:blip r:embed="rId7">
            <a:alphaModFix/>
          </a:blip>
          <a:srcRect b="0" l="33590" r="0" t="67210"/>
          <a:stretch/>
        </p:blipFill>
        <p:spPr>
          <a:xfrm>
            <a:off x="-1" y="0"/>
            <a:ext cx="1528126" cy="761549"/>
          </a:xfrm>
          <a:prstGeom prst="rect">
            <a:avLst/>
          </a:prstGeom>
          <a:noFill/>
          <a:ln>
            <a:noFill/>
          </a:ln>
        </p:spPr>
      </p:pic>
      <p:cxnSp>
        <p:nvCxnSpPr>
          <p:cNvPr id="112" name="Google Shape;112;p16"/>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113" name="Google Shape;113;p16"/>
          <p:cNvSpPr txBox="1"/>
          <p:nvPr/>
        </p:nvSpPr>
        <p:spPr>
          <a:xfrm>
            <a:off x="431100" y="1572175"/>
            <a:ext cx="5313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Poppins Medium"/>
                <a:ea typeface="Poppins Medium"/>
                <a:cs typeface="Poppins Medium"/>
                <a:sym typeface="Poppins Medium"/>
              </a:rPr>
              <a:t>Blockchain intersects with multiple areas of law. For development projects, the following domains are especially critical:</a:t>
            </a:r>
            <a:endParaRPr sz="1000">
              <a:solidFill>
                <a:schemeClr val="lt1"/>
              </a:solidFill>
              <a:latin typeface="Poppins Medium"/>
              <a:ea typeface="Poppins Medium"/>
              <a:cs typeface="Poppins Medium"/>
              <a:sym typeface="Poppins Medium"/>
            </a:endParaRPr>
          </a:p>
        </p:txBody>
      </p:sp>
      <p:sp>
        <p:nvSpPr>
          <p:cNvPr id="114" name="Google Shape;114;p16"/>
          <p:cNvSpPr/>
          <p:nvPr/>
        </p:nvSpPr>
        <p:spPr>
          <a:xfrm>
            <a:off x="522349" y="2296827"/>
            <a:ext cx="919500" cy="919500"/>
          </a:xfrm>
          <a:prstGeom prst="ellipse">
            <a:avLst/>
          </a:prstGeom>
          <a:noFill/>
          <a:ln cap="flat" cmpd="sng" w="2975">
            <a:solidFill>
              <a:srgbClr val="26BDE2"/>
            </a:solidFill>
            <a:prstDash val="solid"/>
            <a:round/>
            <a:headEnd len="sm" w="sm" type="none"/>
            <a:tailEnd len="sm" w="sm" type="none"/>
          </a:ln>
        </p:spPr>
        <p:txBody>
          <a:bodyPr anchorCtr="0" anchor="ctr" bIns="28575" lIns="28575" spcFirstLastPara="1" rIns="28575" wrap="square" tIns="28575">
            <a:noAutofit/>
          </a:bodyPr>
          <a:lstStyle/>
          <a:p>
            <a:pPr indent="0" lvl="0" marL="0" rtl="0" algn="ctr">
              <a:spcBef>
                <a:spcPts val="0"/>
              </a:spcBef>
              <a:spcAft>
                <a:spcPts val="0"/>
              </a:spcAft>
              <a:buNone/>
            </a:pPr>
            <a:r>
              <a:t/>
            </a:r>
            <a:endParaRPr sz="437"/>
          </a:p>
        </p:txBody>
      </p:sp>
      <p:pic>
        <p:nvPicPr>
          <p:cNvPr id="115" name="Google Shape;115;p16" title="vector-shield-icon.jpg"/>
          <p:cNvPicPr preferRelativeResize="0"/>
          <p:nvPr/>
        </p:nvPicPr>
        <p:blipFill rotWithShape="1">
          <a:blip r:embed="rId8">
            <a:alphaModFix/>
          </a:blip>
          <a:srcRect b="0" l="504" r="495" t="0"/>
          <a:stretch/>
        </p:blipFill>
        <p:spPr>
          <a:xfrm>
            <a:off x="555382" y="2323986"/>
            <a:ext cx="858600" cy="867300"/>
          </a:xfrm>
          <a:prstGeom prst="ellipse">
            <a:avLst/>
          </a:prstGeom>
          <a:noFill/>
          <a:ln>
            <a:noFill/>
          </a:ln>
        </p:spPr>
      </p:pic>
      <p:sp>
        <p:nvSpPr>
          <p:cNvPr id="116" name="Google Shape;116;p16"/>
          <p:cNvSpPr/>
          <p:nvPr/>
        </p:nvSpPr>
        <p:spPr>
          <a:xfrm>
            <a:off x="2328024" y="2325027"/>
            <a:ext cx="919500" cy="919500"/>
          </a:xfrm>
          <a:prstGeom prst="ellipse">
            <a:avLst/>
          </a:prstGeom>
          <a:noFill/>
          <a:ln cap="flat" cmpd="sng" w="2975">
            <a:solidFill>
              <a:srgbClr val="26BDE2"/>
            </a:solidFill>
            <a:prstDash val="solid"/>
            <a:round/>
            <a:headEnd len="sm" w="sm" type="none"/>
            <a:tailEnd len="sm" w="sm" type="none"/>
          </a:ln>
        </p:spPr>
        <p:txBody>
          <a:bodyPr anchorCtr="0" anchor="ctr" bIns="28575" lIns="28575" spcFirstLastPara="1" rIns="28575" wrap="square" tIns="28575">
            <a:noAutofit/>
          </a:bodyPr>
          <a:lstStyle/>
          <a:p>
            <a:pPr indent="0" lvl="0" marL="0" rtl="0" algn="ctr">
              <a:spcBef>
                <a:spcPts val="0"/>
              </a:spcBef>
              <a:spcAft>
                <a:spcPts val="0"/>
              </a:spcAft>
              <a:buNone/>
            </a:pPr>
            <a:r>
              <a:t/>
            </a:r>
            <a:endParaRPr sz="437"/>
          </a:p>
        </p:txBody>
      </p:sp>
      <p:pic>
        <p:nvPicPr>
          <p:cNvPr id="117" name="Google Shape;117;p16" title="bank-building-icon-finance-symbol-illustration-for-web-and-mobil-app-on-grey-background-free-vector.jpg"/>
          <p:cNvPicPr preferRelativeResize="0"/>
          <p:nvPr/>
        </p:nvPicPr>
        <p:blipFill rotWithShape="1">
          <a:blip r:embed="rId9">
            <a:alphaModFix/>
          </a:blip>
          <a:srcRect b="0" l="504" r="495" t="0"/>
          <a:stretch/>
        </p:blipFill>
        <p:spPr>
          <a:xfrm>
            <a:off x="2361057" y="2352186"/>
            <a:ext cx="858600" cy="867300"/>
          </a:xfrm>
          <a:prstGeom prst="ellipse">
            <a:avLst/>
          </a:prstGeom>
          <a:noFill/>
          <a:ln>
            <a:noFill/>
          </a:ln>
        </p:spPr>
      </p:pic>
      <p:sp>
        <p:nvSpPr>
          <p:cNvPr id="118" name="Google Shape;118;p16"/>
          <p:cNvSpPr/>
          <p:nvPr/>
        </p:nvSpPr>
        <p:spPr>
          <a:xfrm>
            <a:off x="4133699" y="2296827"/>
            <a:ext cx="919500" cy="919500"/>
          </a:xfrm>
          <a:prstGeom prst="ellipse">
            <a:avLst/>
          </a:prstGeom>
          <a:noFill/>
          <a:ln cap="flat" cmpd="sng" w="2975">
            <a:solidFill>
              <a:srgbClr val="26BDE2"/>
            </a:solidFill>
            <a:prstDash val="solid"/>
            <a:round/>
            <a:headEnd len="sm" w="sm" type="none"/>
            <a:tailEnd len="sm" w="sm" type="none"/>
          </a:ln>
        </p:spPr>
        <p:txBody>
          <a:bodyPr anchorCtr="0" anchor="ctr" bIns="28575" lIns="28575" spcFirstLastPara="1" rIns="28575" wrap="square" tIns="28575">
            <a:noAutofit/>
          </a:bodyPr>
          <a:lstStyle/>
          <a:p>
            <a:pPr indent="0" lvl="0" marL="0" rtl="0" algn="ctr">
              <a:spcBef>
                <a:spcPts val="0"/>
              </a:spcBef>
              <a:spcAft>
                <a:spcPts val="0"/>
              </a:spcAft>
              <a:buNone/>
            </a:pPr>
            <a:r>
              <a:t/>
            </a:r>
            <a:endParaRPr sz="437"/>
          </a:p>
        </p:txBody>
      </p:sp>
      <p:pic>
        <p:nvPicPr>
          <p:cNvPr id="119" name="Google Shape;119;p16" title="contract-vector-icon.jpg"/>
          <p:cNvPicPr preferRelativeResize="0"/>
          <p:nvPr/>
        </p:nvPicPr>
        <p:blipFill rotWithShape="1">
          <a:blip r:embed="rId10">
            <a:alphaModFix/>
          </a:blip>
          <a:srcRect b="0" l="504" r="495" t="0"/>
          <a:stretch/>
        </p:blipFill>
        <p:spPr>
          <a:xfrm>
            <a:off x="4166732" y="2323986"/>
            <a:ext cx="858600" cy="867300"/>
          </a:xfrm>
          <a:prstGeom prst="ellipse">
            <a:avLst/>
          </a:prstGeom>
          <a:noFill/>
          <a:ln>
            <a:noFill/>
          </a:ln>
        </p:spPr>
      </p:pic>
      <p:sp>
        <p:nvSpPr>
          <p:cNvPr id="120" name="Google Shape;120;p16"/>
          <p:cNvSpPr/>
          <p:nvPr/>
        </p:nvSpPr>
        <p:spPr>
          <a:xfrm>
            <a:off x="5711674" y="2297877"/>
            <a:ext cx="919500" cy="919500"/>
          </a:xfrm>
          <a:prstGeom prst="ellipse">
            <a:avLst/>
          </a:prstGeom>
          <a:noFill/>
          <a:ln cap="flat" cmpd="sng" w="2975">
            <a:solidFill>
              <a:srgbClr val="26BDE2"/>
            </a:solidFill>
            <a:prstDash val="solid"/>
            <a:round/>
            <a:headEnd len="sm" w="sm" type="none"/>
            <a:tailEnd len="sm" w="sm" type="none"/>
          </a:ln>
        </p:spPr>
        <p:txBody>
          <a:bodyPr anchorCtr="0" anchor="ctr" bIns="28575" lIns="28575" spcFirstLastPara="1" rIns="28575" wrap="square" tIns="28575">
            <a:noAutofit/>
          </a:bodyPr>
          <a:lstStyle/>
          <a:p>
            <a:pPr indent="0" lvl="0" marL="0" rtl="0" algn="ctr">
              <a:spcBef>
                <a:spcPts val="0"/>
              </a:spcBef>
              <a:spcAft>
                <a:spcPts val="0"/>
              </a:spcAft>
              <a:buNone/>
            </a:pPr>
            <a:r>
              <a:t/>
            </a:r>
            <a:endParaRPr sz="437"/>
          </a:p>
        </p:txBody>
      </p:sp>
      <p:pic>
        <p:nvPicPr>
          <p:cNvPr id="121" name="Google Shape;121;p16" title="istockphoto-1155001198-170667a.jpg"/>
          <p:cNvPicPr preferRelativeResize="0"/>
          <p:nvPr/>
        </p:nvPicPr>
        <p:blipFill rotWithShape="1">
          <a:blip r:embed="rId11">
            <a:alphaModFix/>
          </a:blip>
          <a:srcRect b="0" l="504" r="495" t="0"/>
          <a:stretch/>
        </p:blipFill>
        <p:spPr>
          <a:xfrm>
            <a:off x="5744707" y="2325036"/>
            <a:ext cx="858600" cy="867300"/>
          </a:xfrm>
          <a:prstGeom prst="ellipse">
            <a:avLst/>
          </a:prstGeom>
          <a:noFill/>
          <a:ln>
            <a:noFill/>
          </a:ln>
        </p:spPr>
      </p:pic>
      <p:sp>
        <p:nvSpPr>
          <p:cNvPr id="122" name="Google Shape;122;p16"/>
          <p:cNvSpPr/>
          <p:nvPr/>
        </p:nvSpPr>
        <p:spPr>
          <a:xfrm>
            <a:off x="7352449" y="2326077"/>
            <a:ext cx="919500" cy="919500"/>
          </a:xfrm>
          <a:prstGeom prst="ellipse">
            <a:avLst/>
          </a:prstGeom>
          <a:noFill/>
          <a:ln cap="flat" cmpd="sng" w="2975">
            <a:solidFill>
              <a:srgbClr val="26BDE2"/>
            </a:solidFill>
            <a:prstDash val="solid"/>
            <a:round/>
            <a:headEnd len="sm" w="sm" type="none"/>
            <a:tailEnd len="sm" w="sm" type="none"/>
          </a:ln>
        </p:spPr>
        <p:txBody>
          <a:bodyPr anchorCtr="0" anchor="ctr" bIns="28575" lIns="28575" spcFirstLastPara="1" rIns="28575" wrap="square" tIns="28575">
            <a:noAutofit/>
          </a:bodyPr>
          <a:lstStyle/>
          <a:p>
            <a:pPr indent="0" lvl="0" marL="0" rtl="0" algn="ctr">
              <a:spcBef>
                <a:spcPts val="0"/>
              </a:spcBef>
              <a:spcAft>
                <a:spcPts val="0"/>
              </a:spcAft>
              <a:buNone/>
            </a:pPr>
            <a:r>
              <a:t/>
            </a:r>
            <a:endParaRPr sz="437"/>
          </a:p>
        </p:txBody>
      </p:sp>
      <p:pic>
        <p:nvPicPr>
          <p:cNvPr id="123" name="Google Shape;123;p16" title="images (1).png"/>
          <p:cNvPicPr preferRelativeResize="0"/>
          <p:nvPr/>
        </p:nvPicPr>
        <p:blipFill rotWithShape="1">
          <a:blip r:embed="rId12">
            <a:alphaModFix/>
          </a:blip>
          <a:srcRect b="0" l="4922" r="4931" t="0"/>
          <a:stretch/>
        </p:blipFill>
        <p:spPr>
          <a:xfrm>
            <a:off x="7385482" y="2353236"/>
            <a:ext cx="858600" cy="867300"/>
          </a:xfrm>
          <a:prstGeom prst="ellipse">
            <a:avLst/>
          </a:prstGeom>
          <a:noFill/>
          <a:ln>
            <a:noFill/>
          </a:ln>
        </p:spPr>
      </p:pic>
      <p:sp>
        <p:nvSpPr>
          <p:cNvPr id="124" name="Google Shape;124;p16"/>
          <p:cNvSpPr/>
          <p:nvPr/>
        </p:nvSpPr>
        <p:spPr>
          <a:xfrm>
            <a:off x="374675" y="3448375"/>
            <a:ext cx="1370100" cy="761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rgbClr val="FFFFFF"/>
                </a:solidFill>
                <a:latin typeface="Poppins"/>
                <a:ea typeface="Poppins"/>
                <a:cs typeface="Poppins"/>
                <a:sym typeface="Poppins"/>
              </a:rPr>
              <a:t>Data Protection &amp; Privacy:</a:t>
            </a:r>
            <a:endParaRPr sz="700">
              <a:solidFill>
                <a:srgbClr val="FFFFFF"/>
              </a:solidFill>
              <a:latin typeface="Poppins"/>
              <a:ea typeface="Poppins"/>
              <a:cs typeface="Poppins"/>
              <a:sym typeface="Poppins"/>
            </a:endParaRPr>
          </a:p>
          <a:p>
            <a:pPr indent="0" lvl="0" marL="0" rtl="0" algn="l">
              <a:spcBef>
                <a:spcPts val="0"/>
              </a:spcBef>
              <a:spcAft>
                <a:spcPts val="0"/>
              </a:spcAft>
              <a:buNone/>
            </a:pPr>
            <a:br>
              <a:rPr lang="en" sz="700">
                <a:solidFill>
                  <a:srgbClr val="FFFFFF"/>
                </a:solidFill>
                <a:latin typeface="Poppins"/>
                <a:ea typeface="Poppins"/>
                <a:cs typeface="Poppins"/>
                <a:sym typeface="Poppins"/>
              </a:rPr>
            </a:br>
            <a:r>
              <a:rPr lang="en" sz="700">
                <a:solidFill>
                  <a:srgbClr val="FFFFFF"/>
                </a:solidFill>
                <a:latin typeface="Poppins"/>
                <a:ea typeface="Poppins"/>
                <a:cs typeface="Poppins"/>
                <a:sym typeface="Poppins"/>
              </a:rPr>
              <a:t>Handling sensitive personal data.</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p:txBody>
      </p:sp>
      <p:sp>
        <p:nvSpPr>
          <p:cNvPr id="125" name="Google Shape;125;p16"/>
          <p:cNvSpPr/>
          <p:nvPr/>
        </p:nvSpPr>
        <p:spPr>
          <a:xfrm>
            <a:off x="2127275" y="3448375"/>
            <a:ext cx="1370100" cy="761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rgbClr val="FFFFFF"/>
                </a:solidFill>
                <a:latin typeface="Poppins"/>
                <a:ea typeface="Poppins"/>
                <a:cs typeface="Poppins"/>
                <a:sym typeface="Poppins"/>
              </a:rPr>
              <a:t>Financial Regulations:</a:t>
            </a:r>
            <a:br>
              <a:rPr lang="en" sz="700">
                <a:solidFill>
                  <a:srgbClr val="FFFFFF"/>
                </a:solidFill>
                <a:latin typeface="Poppins"/>
                <a:ea typeface="Poppins"/>
                <a:cs typeface="Poppins"/>
                <a:sym typeface="Poppins"/>
              </a:rPr>
            </a:br>
            <a:br>
              <a:rPr lang="en" sz="700">
                <a:solidFill>
                  <a:srgbClr val="FFFFFF"/>
                </a:solidFill>
                <a:latin typeface="Poppins"/>
                <a:ea typeface="Poppins"/>
                <a:cs typeface="Poppins"/>
                <a:sym typeface="Poppins"/>
              </a:rPr>
            </a:br>
            <a:r>
              <a:rPr lang="en" sz="700">
                <a:solidFill>
                  <a:srgbClr val="FFFFFF"/>
                </a:solidFill>
                <a:latin typeface="Poppins"/>
                <a:ea typeface="Poppins"/>
                <a:cs typeface="Poppins"/>
                <a:sym typeface="Poppins"/>
              </a:rPr>
              <a:t>Tokenization, payments, and AML/CFT</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p:txBody>
      </p:sp>
      <p:sp>
        <p:nvSpPr>
          <p:cNvPr id="126" name="Google Shape;126;p16"/>
          <p:cNvSpPr/>
          <p:nvPr/>
        </p:nvSpPr>
        <p:spPr>
          <a:xfrm>
            <a:off x="3956075" y="3448375"/>
            <a:ext cx="1370100" cy="761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rgbClr val="FFFFFF"/>
                </a:solidFill>
                <a:latin typeface="Poppins"/>
                <a:ea typeface="Poppins"/>
                <a:cs typeface="Poppins"/>
                <a:sym typeface="Poppins"/>
              </a:rPr>
              <a:t>Contract Law:</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a:p>
            <a:pPr indent="0" lvl="0" marL="0" rtl="0" algn="l">
              <a:spcBef>
                <a:spcPts val="0"/>
              </a:spcBef>
              <a:spcAft>
                <a:spcPts val="0"/>
              </a:spcAft>
              <a:buNone/>
            </a:pPr>
            <a:r>
              <a:rPr lang="en" sz="700">
                <a:solidFill>
                  <a:srgbClr val="FFFFFF"/>
                </a:solidFill>
                <a:latin typeface="Poppins"/>
                <a:ea typeface="Poppins"/>
                <a:cs typeface="Poppins"/>
                <a:sym typeface="Poppins"/>
              </a:rPr>
              <a:t>Smart contracts and enforceability.</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p:txBody>
      </p:sp>
      <p:sp>
        <p:nvSpPr>
          <p:cNvPr id="127" name="Google Shape;127;p16"/>
          <p:cNvSpPr/>
          <p:nvPr/>
        </p:nvSpPr>
        <p:spPr>
          <a:xfrm>
            <a:off x="5556275" y="3448375"/>
            <a:ext cx="1370100" cy="761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rgbClr val="FFFFFF"/>
                </a:solidFill>
                <a:latin typeface="Poppins"/>
                <a:ea typeface="Poppins"/>
                <a:cs typeface="Poppins"/>
                <a:sym typeface="Poppins"/>
              </a:rPr>
              <a:t>Liability &amp; Accountability:</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a:p>
            <a:pPr indent="0" lvl="0" marL="0" rtl="0" algn="l">
              <a:spcBef>
                <a:spcPts val="0"/>
              </a:spcBef>
              <a:spcAft>
                <a:spcPts val="0"/>
              </a:spcAft>
              <a:buNone/>
            </a:pPr>
            <a:r>
              <a:rPr lang="en" sz="700">
                <a:solidFill>
                  <a:srgbClr val="FFFFFF"/>
                </a:solidFill>
                <a:latin typeface="Poppins"/>
                <a:ea typeface="Poppins"/>
                <a:cs typeface="Poppins"/>
                <a:sym typeface="Poppins"/>
              </a:rPr>
              <a:t> Who is responsible when things go wrong</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p:txBody>
      </p:sp>
      <p:sp>
        <p:nvSpPr>
          <p:cNvPr id="128" name="Google Shape;128;p16"/>
          <p:cNvSpPr/>
          <p:nvPr/>
        </p:nvSpPr>
        <p:spPr>
          <a:xfrm>
            <a:off x="7232675" y="3448375"/>
            <a:ext cx="1370100" cy="761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rgbClr val="FFFFFF"/>
                </a:solidFill>
                <a:latin typeface="Poppins"/>
                <a:ea typeface="Poppins"/>
                <a:cs typeface="Poppins"/>
                <a:sym typeface="Poppins"/>
              </a:rPr>
              <a:t>Intellectual Property:</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a:p>
            <a:pPr indent="0" lvl="0" marL="0" rtl="0" algn="l">
              <a:spcBef>
                <a:spcPts val="0"/>
              </a:spcBef>
              <a:spcAft>
                <a:spcPts val="0"/>
              </a:spcAft>
              <a:buNone/>
            </a:pPr>
            <a:r>
              <a:rPr lang="en" sz="700">
                <a:solidFill>
                  <a:srgbClr val="FFFFFF"/>
                </a:solidFill>
                <a:latin typeface="Poppins"/>
                <a:ea typeface="Poppins"/>
                <a:cs typeface="Poppins"/>
                <a:sym typeface="Poppins"/>
              </a:rPr>
              <a:t>Rights over code, tokens, and digital assets</a:t>
            </a:r>
            <a:endParaRPr sz="700">
              <a:solidFill>
                <a:srgbClr val="FFFFFF"/>
              </a:solidFill>
              <a:latin typeface="Poppins"/>
              <a:ea typeface="Poppins"/>
              <a:cs typeface="Poppins"/>
              <a:sym typeface="Poppins"/>
            </a:endParaRPr>
          </a:p>
          <a:p>
            <a:pPr indent="0" lvl="0" marL="0" rtl="0" algn="l">
              <a:spcBef>
                <a:spcPts val="0"/>
              </a:spcBef>
              <a:spcAft>
                <a:spcPts val="0"/>
              </a:spcAft>
              <a:buNone/>
            </a:pPr>
            <a:r>
              <a:t/>
            </a:r>
            <a:endParaRPr sz="700">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132" name="Shape 132"/>
        <p:cNvGrpSpPr/>
        <p:nvPr/>
      </p:nvGrpSpPr>
      <p:grpSpPr>
        <a:xfrm>
          <a:off x="0" y="0"/>
          <a:ext cx="0" cy="0"/>
          <a:chOff x="0" y="0"/>
          <a:chExt cx="0" cy="0"/>
        </a:xfrm>
      </p:grpSpPr>
      <p:pic>
        <p:nvPicPr>
          <p:cNvPr id="133" name="Google Shape;133;p17" title="Element.png"/>
          <p:cNvPicPr preferRelativeResize="0"/>
          <p:nvPr/>
        </p:nvPicPr>
        <p:blipFill rotWithShape="1">
          <a:blip r:embed="rId3">
            <a:alphaModFix/>
          </a:blip>
          <a:srcRect b="0" l="33590" r="0" t="67210"/>
          <a:stretch/>
        </p:blipFill>
        <p:spPr>
          <a:xfrm>
            <a:off x="-1" y="0"/>
            <a:ext cx="1528126" cy="761549"/>
          </a:xfrm>
          <a:prstGeom prst="rect">
            <a:avLst/>
          </a:prstGeom>
          <a:noFill/>
          <a:ln>
            <a:noFill/>
          </a:ln>
        </p:spPr>
      </p:pic>
      <p:sp>
        <p:nvSpPr>
          <p:cNvPr id="134" name="Google Shape;134;p17"/>
          <p:cNvSpPr txBox="1"/>
          <p:nvPr/>
        </p:nvSpPr>
        <p:spPr>
          <a:xfrm>
            <a:off x="350000" y="622225"/>
            <a:ext cx="45924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Data Protection &amp; Privacy</a:t>
            </a:r>
            <a:endParaRPr sz="2300">
              <a:solidFill>
                <a:srgbClr val="FFFFFF"/>
              </a:solidFill>
              <a:latin typeface="Poppins ExtraBold"/>
              <a:ea typeface="Poppins ExtraBold"/>
              <a:cs typeface="Poppins ExtraBold"/>
              <a:sym typeface="Poppins ExtraBold"/>
            </a:endParaRPr>
          </a:p>
        </p:txBody>
      </p:sp>
      <p:cxnSp>
        <p:nvCxnSpPr>
          <p:cNvPr id="135" name="Google Shape;135;p17"/>
          <p:cNvCxnSpPr/>
          <p:nvPr/>
        </p:nvCxnSpPr>
        <p:spPr>
          <a:xfrm>
            <a:off x="711600" y="1167313"/>
            <a:ext cx="4754400" cy="5100"/>
          </a:xfrm>
          <a:prstGeom prst="straightConnector1">
            <a:avLst/>
          </a:prstGeom>
          <a:noFill/>
          <a:ln cap="flat" cmpd="sng" w="19050">
            <a:solidFill>
              <a:srgbClr val="FBC410"/>
            </a:solidFill>
            <a:prstDash val="solid"/>
            <a:round/>
            <a:headEnd len="med" w="med" type="none"/>
            <a:tailEnd len="med" w="med" type="none"/>
          </a:ln>
        </p:spPr>
      </p:cxnSp>
      <p:sp>
        <p:nvSpPr>
          <p:cNvPr id="136" name="Google Shape;136;p17"/>
          <p:cNvSpPr txBox="1"/>
          <p:nvPr/>
        </p:nvSpPr>
        <p:spPr>
          <a:xfrm>
            <a:off x="431100" y="1420475"/>
            <a:ext cx="58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Blockchain is often described as “immutable,” which conflicts with privacy laws such as the right to be forgotten (GDPR).</a:t>
            </a:r>
            <a:endParaRPr b="1" sz="1100">
              <a:solidFill>
                <a:schemeClr val="lt1"/>
              </a:solidFill>
              <a:latin typeface="Poppins"/>
              <a:ea typeface="Poppins"/>
              <a:cs typeface="Poppins"/>
              <a:sym typeface="Poppins"/>
            </a:endParaRPr>
          </a:p>
        </p:txBody>
      </p:sp>
      <p:sp>
        <p:nvSpPr>
          <p:cNvPr id="137" name="Google Shape;137;p17"/>
          <p:cNvSpPr/>
          <p:nvPr/>
        </p:nvSpPr>
        <p:spPr>
          <a:xfrm>
            <a:off x="3552527" y="4286280"/>
            <a:ext cx="2155118" cy="708495"/>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138" name="Google Shape;138;p17"/>
          <p:cNvSpPr/>
          <p:nvPr/>
        </p:nvSpPr>
        <p:spPr>
          <a:xfrm>
            <a:off x="7622452" y="3613277"/>
            <a:ext cx="1465611" cy="1465611"/>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139" name="Google Shape;139;p17"/>
          <p:cNvSpPr/>
          <p:nvPr/>
        </p:nvSpPr>
        <p:spPr>
          <a:xfrm>
            <a:off x="229567" y="4359457"/>
            <a:ext cx="1802368" cy="486639"/>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sp>
        <p:nvSpPr>
          <p:cNvPr id="140" name="Google Shape;140;p17"/>
          <p:cNvSpPr/>
          <p:nvPr/>
        </p:nvSpPr>
        <p:spPr>
          <a:xfrm>
            <a:off x="7400594" y="-928083"/>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7">
              <a:alphaModFix/>
            </a:blip>
            <a:stretch>
              <a:fillRect b="0" l="0" r="0" t="0"/>
            </a:stretch>
          </a:blipFill>
          <a:ln>
            <a:noFill/>
          </a:ln>
        </p:spPr>
      </p:sp>
      <p:sp>
        <p:nvSpPr>
          <p:cNvPr id="141" name="Google Shape;141;p17"/>
          <p:cNvSpPr/>
          <p:nvPr/>
        </p:nvSpPr>
        <p:spPr>
          <a:xfrm>
            <a:off x="923150" y="3123467"/>
            <a:ext cx="1058100" cy="1058100"/>
          </a:xfrm>
          <a:prstGeom prst="ellipse">
            <a:avLst/>
          </a:prstGeom>
          <a:noFill/>
          <a:ln cap="flat" cmpd="sng" w="3425">
            <a:solidFill>
              <a:srgbClr val="26BDE2"/>
            </a:solidFill>
            <a:prstDash val="solid"/>
            <a:round/>
            <a:headEnd len="sm" w="sm" type="none"/>
            <a:tailEnd len="sm" w="sm" type="none"/>
          </a:ln>
        </p:spPr>
        <p:txBody>
          <a:bodyPr anchorCtr="0" anchor="ctr" bIns="32875" lIns="32875" spcFirstLastPara="1" rIns="32875" wrap="square" tIns="32875">
            <a:noAutofit/>
          </a:bodyPr>
          <a:lstStyle/>
          <a:p>
            <a:pPr indent="0" lvl="0" marL="0" rtl="0" algn="ctr">
              <a:spcBef>
                <a:spcPts val="0"/>
              </a:spcBef>
              <a:spcAft>
                <a:spcPts val="0"/>
              </a:spcAft>
              <a:buNone/>
            </a:pPr>
            <a:r>
              <a:t/>
            </a:r>
            <a:endParaRPr sz="503"/>
          </a:p>
        </p:txBody>
      </p:sp>
      <p:pic>
        <p:nvPicPr>
          <p:cNvPr id="142" name="Google Shape;142;p17" title="70663670-padlock-icon.jpg"/>
          <p:cNvPicPr preferRelativeResize="0"/>
          <p:nvPr/>
        </p:nvPicPr>
        <p:blipFill rotWithShape="1">
          <a:blip r:embed="rId8">
            <a:alphaModFix/>
          </a:blip>
          <a:srcRect b="0" l="504" r="495" t="0"/>
          <a:stretch/>
        </p:blipFill>
        <p:spPr>
          <a:xfrm>
            <a:off x="961157" y="3154715"/>
            <a:ext cx="987900" cy="997800"/>
          </a:xfrm>
          <a:prstGeom prst="ellipse">
            <a:avLst/>
          </a:prstGeom>
          <a:noFill/>
          <a:ln>
            <a:noFill/>
          </a:ln>
        </p:spPr>
      </p:pic>
      <p:sp>
        <p:nvSpPr>
          <p:cNvPr id="143" name="Google Shape;143;p17"/>
          <p:cNvSpPr/>
          <p:nvPr/>
        </p:nvSpPr>
        <p:spPr>
          <a:xfrm>
            <a:off x="923150" y="1970175"/>
            <a:ext cx="1058100" cy="1058100"/>
          </a:xfrm>
          <a:prstGeom prst="ellipse">
            <a:avLst/>
          </a:prstGeom>
          <a:noFill/>
          <a:ln cap="flat" cmpd="sng" w="3425">
            <a:solidFill>
              <a:srgbClr val="26BDE2"/>
            </a:solidFill>
            <a:prstDash val="solid"/>
            <a:round/>
            <a:headEnd len="sm" w="sm" type="none"/>
            <a:tailEnd len="sm" w="sm" type="none"/>
          </a:ln>
        </p:spPr>
        <p:txBody>
          <a:bodyPr anchorCtr="0" anchor="ctr" bIns="32875" lIns="32875" spcFirstLastPara="1" rIns="32875" wrap="square" tIns="32875">
            <a:noAutofit/>
          </a:bodyPr>
          <a:lstStyle/>
          <a:p>
            <a:pPr indent="0" lvl="0" marL="0" rtl="0" algn="ctr">
              <a:spcBef>
                <a:spcPts val="0"/>
              </a:spcBef>
              <a:spcAft>
                <a:spcPts val="0"/>
              </a:spcAft>
              <a:buNone/>
            </a:pPr>
            <a:r>
              <a:t/>
            </a:r>
            <a:endParaRPr sz="503"/>
          </a:p>
        </p:txBody>
      </p:sp>
      <p:pic>
        <p:nvPicPr>
          <p:cNvPr id="144" name="Google Shape;144;p17" title="images (2).png"/>
          <p:cNvPicPr preferRelativeResize="0"/>
          <p:nvPr/>
        </p:nvPicPr>
        <p:blipFill rotWithShape="1">
          <a:blip r:embed="rId9">
            <a:alphaModFix/>
          </a:blip>
          <a:srcRect b="-2697" l="3084" r="29850" t="-2687"/>
          <a:stretch/>
        </p:blipFill>
        <p:spPr>
          <a:xfrm>
            <a:off x="961158" y="2001425"/>
            <a:ext cx="987900" cy="997800"/>
          </a:xfrm>
          <a:prstGeom prst="ellipse">
            <a:avLst/>
          </a:prstGeom>
          <a:noFill/>
          <a:ln>
            <a:noFill/>
          </a:ln>
        </p:spPr>
      </p:pic>
      <p:sp>
        <p:nvSpPr>
          <p:cNvPr id="145" name="Google Shape;145;p17"/>
          <p:cNvSpPr txBox="1"/>
          <p:nvPr>
            <p:ph idx="1" type="subTitle"/>
          </p:nvPr>
        </p:nvSpPr>
        <p:spPr>
          <a:xfrm>
            <a:off x="2234000" y="2104478"/>
            <a:ext cx="5588400" cy="1861800"/>
          </a:xfrm>
          <a:prstGeom prst="rect">
            <a:avLst/>
          </a:prstGeom>
        </p:spPr>
        <p:txBody>
          <a:bodyPr anchorCtr="0" anchor="t" bIns="91425" lIns="91425" spcFirstLastPara="1" rIns="91425" wrap="square" tIns="91425">
            <a:noAutofit/>
          </a:bodyPr>
          <a:lstStyle/>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Storing personal or health data on-chain can create compliance risks.</a:t>
            </a:r>
            <a:endParaRPr sz="1200">
              <a:solidFill>
                <a:srgbClr val="FFFFFF"/>
              </a:solidFill>
              <a:latin typeface="Poppins"/>
              <a:ea typeface="Poppins"/>
              <a:cs typeface="Poppins"/>
              <a:sym typeface="Poppins"/>
            </a:endParaRPr>
          </a:p>
          <a:p>
            <a:pPr indent="0" lvl="0" marL="0" rtl="0" algn="l">
              <a:lnSpc>
                <a:spcPct val="115000"/>
              </a:lnSpc>
              <a:spcBef>
                <a:spcPts val="0"/>
              </a:spcBef>
              <a:spcAft>
                <a:spcPts val="0"/>
              </a:spcAft>
              <a:buNone/>
            </a:pPr>
            <a:r>
              <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Solutions include off-chain storage, encryption, and zero-knowledge proofs.</a:t>
            </a:r>
            <a:endParaRPr sz="1200">
              <a:solidFill>
                <a:srgbClr val="FFFFFF"/>
              </a:solidFill>
              <a:latin typeface="Poppins"/>
              <a:ea typeface="Poppins"/>
              <a:cs typeface="Poppins"/>
              <a:sym typeface="Poppins"/>
            </a:endParaRPr>
          </a:p>
          <a:p>
            <a:pPr indent="0" lvl="0" marL="0" rtl="0" algn="l">
              <a:lnSpc>
                <a:spcPct val="115000"/>
              </a:lnSpc>
              <a:spcBef>
                <a:spcPts val="0"/>
              </a:spcBef>
              <a:spcAft>
                <a:spcPts val="0"/>
              </a:spcAft>
              <a:buNone/>
            </a:pPr>
            <a:r>
              <a:t/>
            </a:r>
            <a:endParaRPr sz="1200">
              <a:solidFill>
                <a:srgbClr val="FFFFFF"/>
              </a:solidFill>
              <a:latin typeface="Poppins"/>
              <a:ea typeface="Poppins"/>
              <a:cs typeface="Poppins"/>
              <a:sym typeface="Poppins"/>
            </a:endParaRPr>
          </a:p>
          <a:p>
            <a:pPr indent="-190500" lvl="0" marL="400050" rtl="0" algn="l">
              <a:lnSpc>
                <a:spcPct val="115000"/>
              </a:lnSpc>
              <a:spcBef>
                <a:spcPts val="0"/>
              </a:spcBef>
              <a:spcAft>
                <a:spcPts val="0"/>
              </a:spcAft>
              <a:buClr>
                <a:srgbClr val="E71F72"/>
              </a:buClr>
              <a:buSzPts val="1200"/>
              <a:buFont typeface="Poppins"/>
              <a:buChar char="●"/>
            </a:pPr>
            <a:r>
              <a:rPr lang="en" sz="1200">
                <a:solidFill>
                  <a:srgbClr val="FFFFFF"/>
                </a:solidFill>
                <a:latin typeface="Poppins"/>
                <a:ea typeface="Poppins"/>
                <a:cs typeface="Poppins"/>
                <a:sym typeface="Poppins"/>
              </a:rPr>
              <a:t>In development contexts (e.g., refugee ID), misuse of data could put vulnerable groups at risk.</a:t>
            </a:r>
            <a:endParaRPr sz="1200">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149" name="Shape 149"/>
        <p:cNvGrpSpPr/>
        <p:nvPr/>
      </p:nvGrpSpPr>
      <p:grpSpPr>
        <a:xfrm>
          <a:off x="0" y="0"/>
          <a:ext cx="0" cy="0"/>
          <a:chOff x="0" y="0"/>
          <a:chExt cx="0" cy="0"/>
        </a:xfrm>
      </p:grpSpPr>
      <p:grpSp>
        <p:nvGrpSpPr>
          <p:cNvPr id="150" name="Google Shape;150;p18"/>
          <p:cNvGrpSpPr/>
          <p:nvPr/>
        </p:nvGrpSpPr>
        <p:grpSpPr>
          <a:xfrm>
            <a:off x="4749604" y="151277"/>
            <a:ext cx="4231939" cy="1102140"/>
            <a:chOff x="0" y="0"/>
            <a:chExt cx="9006042" cy="2344978"/>
          </a:xfrm>
        </p:grpSpPr>
        <p:sp>
          <p:nvSpPr>
            <p:cNvPr id="151" name="Google Shape;151;p18"/>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152" name="Google Shape;152;p18"/>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153" name="Google Shape;153;p18"/>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pic>
        <p:nvPicPr>
          <p:cNvPr id="154" name="Google Shape;154;p18" title="Element.png"/>
          <p:cNvPicPr preferRelativeResize="0"/>
          <p:nvPr/>
        </p:nvPicPr>
        <p:blipFill rotWithShape="1">
          <a:blip r:embed="rId6">
            <a:alphaModFix/>
          </a:blip>
          <a:srcRect b="0" l="33590" r="0" t="67210"/>
          <a:stretch/>
        </p:blipFill>
        <p:spPr>
          <a:xfrm>
            <a:off x="-1" y="0"/>
            <a:ext cx="1528126" cy="761549"/>
          </a:xfrm>
          <a:prstGeom prst="rect">
            <a:avLst/>
          </a:prstGeom>
          <a:noFill/>
          <a:ln>
            <a:noFill/>
          </a:ln>
        </p:spPr>
      </p:pic>
      <p:sp>
        <p:nvSpPr>
          <p:cNvPr id="155" name="Google Shape;155;p18"/>
          <p:cNvSpPr txBox="1"/>
          <p:nvPr/>
        </p:nvSpPr>
        <p:spPr>
          <a:xfrm>
            <a:off x="-43100" y="622225"/>
            <a:ext cx="4581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International Frameworks</a:t>
            </a:r>
            <a:endParaRPr sz="2300">
              <a:solidFill>
                <a:srgbClr val="FFFFFF"/>
              </a:solidFill>
              <a:latin typeface="Poppins ExtraBold"/>
              <a:ea typeface="Poppins ExtraBold"/>
              <a:cs typeface="Poppins ExtraBold"/>
              <a:sym typeface="Poppins ExtraBold"/>
            </a:endParaRPr>
          </a:p>
        </p:txBody>
      </p:sp>
      <p:cxnSp>
        <p:nvCxnSpPr>
          <p:cNvPr id="156" name="Google Shape;156;p18"/>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157" name="Google Shape;157;p18"/>
          <p:cNvSpPr/>
          <p:nvPr/>
        </p:nvSpPr>
        <p:spPr>
          <a:xfrm>
            <a:off x="431100" y="2441400"/>
            <a:ext cx="1911900" cy="1414200"/>
          </a:xfrm>
          <a:prstGeom prst="rect">
            <a:avLst/>
          </a:prstGeom>
          <a:solidFill>
            <a:srgbClr val="E71F7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Cross-border transfers trigger AML/CFT obligations: </a:t>
            </a:r>
            <a:endParaRPr sz="900">
              <a:solidFill>
                <a:srgbClr val="FFFFFF"/>
              </a:solidFill>
              <a:latin typeface="Poppins"/>
              <a:ea typeface="Poppins"/>
              <a:cs typeface="Poppins"/>
              <a:sym typeface="Poppins"/>
            </a:endParaRPr>
          </a:p>
          <a:p>
            <a:pPr indent="0" lvl="0" marL="0" rtl="0" algn="l">
              <a:spcBef>
                <a:spcPts val="0"/>
              </a:spcBef>
              <a:spcAft>
                <a:spcPts val="0"/>
              </a:spcAft>
              <a:buNone/>
            </a:pPr>
            <a:r>
              <a:t/>
            </a:r>
            <a:endParaRPr sz="900">
              <a:solidFill>
                <a:srgbClr val="FFFFFF"/>
              </a:solidFill>
              <a:latin typeface="Poppins"/>
              <a:ea typeface="Poppins"/>
              <a:cs typeface="Poppins"/>
              <a:sym typeface="Poppins"/>
            </a:endParaRPr>
          </a:p>
          <a:p>
            <a:pPr indent="0" lvl="0" marL="0" rtl="0" algn="l">
              <a:spcBef>
                <a:spcPts val="0"/>
              </a:spcBef>
              <a:spcAft>
                <a:spcPts val="0"/>
              </a:spcAft>
              <a:buNone/>
            </a:pPr>
            <a:r>
              <a:rPr lang="en" sz="900">
                <a:solidFill>
                  <a:srgbClr val="FFFFFF"/>
                </a:solidFill>
                <a:latin typeface="Poppins"/>
                <a:ea typeface="Poppins"/>
                <a:cs typeface="Poppins"/>
                <a:sym typeface="Poppins"/>
              </a:rPr>
              <a:t>Every transaction could be monitored by regulators.</a:t>
            </a:r>
            <a:endParaRPr sz="900">
              <a:solidFill>
                <a:srgbClr val="FFFFFF"/>
              </a:solidFill>
              <a:latin typeface="Poppins"/>
              <a:ea typeface="Poppins"/>
              <a:cs typeface="Poppins"/>
              <a:sym typeface="Poppins"/>
            </a:endParaRPr>
          </a:p>
        </p:txBody>
      </p:sp>
      <p:sp>
        <p:nvSpPr>
          <p:cNvPr id="158" name="Google Shape;158;p18"/>
          <p:cNvSpPr/>
          <p:nvPr/>
        </p:nvSpPr>
        <p:spPr>
          <a:xfrm>
            <a:off x="2488500" y="2441350"/>
            <a:ext cx="1911900" cy="1414200"/>
          </a:xfrm>
          <a:prstGeom prst="rect">
            <a:avLst/>
          </a:prstGeom>
          <a:solidFill>
            <a:srgbClr val="E71F7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FFFFFF"/>
                </a:solidFill>
                <a:latin typeface="Poppins"/>
                <a:ea typeface="Poppins"/>
                <a:cs typeface="Poppins"/>
                <a:sym typeface="Poppins"/>
              </a:rPr>
              <a:t>Development projects using blockchain for remittances, humanitarian cash, or carbon credits must comply with central bank rules and international standards like FATF.</a:t>
            </a:r>
            <a:endParaRPr sz="900">
              <a:solidFill>
                <a:srgbClr val="FFFFFF"/>
              </a:solidFill>
              <a:latin typeface="Poppins"/>
              <a:ea typeface="Poppins"/>
              <a:cs typeface="Poppins"/>
              <a:sym typeface="Poppins"/>
            </a:endParaRPr>
          </a:p>
        </p:txBody>
      </p:sp>
      <p:sp>
        <p:nvSpPr>
          <p:cNvPr id="159" name="Google Shape;159;p18"/>
          <p:cNvSpPr/>
          <p:nvPr/>
        </p:nvSpPr>
        <p:spPr>
          <a:xfrm>
            <a:off x="4545900" y="2441350"/>
            <a:ext cx="1911900" cy="1414200"/>
          </a:xfrm>
          <a:prstGeom prst="rect">
            <a:avLst/>
          </a:prstGeom>
          <a:solidFill>
            <a:srgbClr val="E71F7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FFFFFF"/>
                </a:solidFill>
                <a:latin typeface="Poppins"/>
                <a:ea typeface="Poppins"/>
                <a:cs typeface="Poppins"/>
                <a:sym typeface="Poppins"/>
              </a:rPr>
              <a:t>Real-world example: </a:t>
            </a:r>
            <a:endParaRPr sz="9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9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rPr lang="en" sz="900">
                <a:solidFill>
                  <a:srgbClr val="FFFFFF"/>
                </a:solidFill>
                <a:latin typeface="Poppins"/>
                <a:ea typeface="Poppins"/>
                <a:cs typeface="Poppins"/>
                <a:sym typeface="Poppins"/>
              </a:rPr>
              <a:t>In some countries, sending stablecoins as aid could legally require a financial service license, even if the intent is purely humanitarian</a:t>
            </a:r>
            <a:endParaRPr sz="900">
              <a:solidFill>
                <a:srgbClr val="FFFFFF"/>
              </a:solidFill>
              <a:latin typeface="Poppins"/>
              <a:ea typeface="Poppins"/>
              <a:cs typeface="Poppins"/>
              <a:sym typeface="Poppins"/>
            </a:endParaRPr>
          </a:p>
        </p:txBody>
      </p:sp>
      <p:sp>
        <p:nvSpPr>
          <p:cNvPr id="160" name="Google Shape;160;p18"/>
          <p:cNvSpPr txBox="1"/>
          <p:nvPr/>
        </p:nvSpPr>
        <p:spPr>
          <a:xfrm>
            <a:off x="431100" y="1420475"/>
            <a:ext cx="580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Blockchain isn’t just tech, it’s money too. Tokens and stablecoins can legally be seen as securities, e-money, or payment instruments, depending on the country.</a:t>
            </a:r>
            <a:endParaRPr b="1" sz="1100">
              <a:solidFill>
                <a:schemeClr val="lt1"/>
              </a:solidFill>
              <a:latin typeface="Poppins"/>
              <a:ea typeface="Poppins"/>
              <a:cs typeface="Poppins"/>
              <a:sym typeface="Poppins"/>
            </a:endParaRPr>
          </a:p>
        </p:txBody>
      </p:sp>
      <p:sp>
        <p:nvSpPr>
          <p:cNvPr id="161" name="Google Shape;161;p18"/>
          <p:cNvSpPr/>
          <p:nvPr/>
        </p:nvSpPr>
        <p:spPr>
          <a:xfrm>
            <a:off x="6664050" y="1779700"/>
            <a:ext cx="2317500" cy="2317500"/>
          </a:xfrm>
          <a:prstGeom prst="ellipse">
            <a:avLst/>
          </a:prstGeom>
          <a:noFill/>
          <a:ln cap="flat" cmpd="sng" w="7500">
            <a:solidFill>
              <a:srgbClr val="26BDE2"/>
            </a:solidFill>
            <a:prstDash val="solid"/>
            <a:round/>
            <a:headEnd len="sm" w="sm" type="none"/>
            <a:tailEnd len="sm" w="sm" type="none"/>
          </a:ln>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162" name="Google Shape;162;p18"/>
          <p:cNvSpPr/>
          <p:nvPr/>
        </p:nvSpPr>
        <p:spPr>
          <a:xfrm>
            <a:off x="7091194" y="3898742"/>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7">
              <a:alphaModFix/>
            </a:blip>
            <a:stretch>
              <a:fillRect b="0" l="0" r="0" t="0"/>
            </a:stretch>
          </a:blipFill>
          <a:ln>
            <a:noFill/>
          </a:ln>
        </p:spPr>
      </p:sp>
      <p:pic>
        <p:nvPicPr>
          <p:cNvPr id="163" name="Google Shape;163;p18" title="compliance-for-financial-service-provider.jpg"/>
          <p:cNvPicPr preferRelativeResize="0"/>
          <p:nvPr/>
        </p:nvPicPr>
        <p:blipFill rotWithShape="1">
          <a:blip r:embed="rId8">
            <a:alphaModFix/>
          </a:blip>
          <a:srcRect b="0" l="35903" r="7866" t="0"/>
          <a:stretch/>
        </p:blipFill>
        <p:spPr>
          <a:xfrm>
            <a:off x="6747307" y="1848152"/>
            <a:ext cx="2163900" cy="2185800"/>
          </a:xfrm>
          <a:prstGeom prst="ellipse">
            <a:avLst/>
          </a:prstGeom>
          <a:noFill/>
          <a:ln>
            <a:noFill/>
          </a:ln>
        </p:spPr>
      </p:pic>
      <p:sp>
        <p:nvSpPr>
          <p:cNvPr id="164" name="Google Shape;164;p18"/>
          <p:cNvSpPr txBox="1"/>
          <p:nvPr/>
        </p:nvSpPr>
        <p:spPr>
          <a:xfrm>
            <a:off x="507300" y="4163675"/>
            <a:ext cx="5805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chemeClr val="lt1"/>
                </a:solidFill>
                <a:latin typeface="Montserrat Medium"/>
                <a:ea typeface="Montserrat Medium"/>
                <a:cs typeface="Montserrat Medium"/>
                <a:sym typeface="Montserrat Medium"/>
              </a:rPr>
              <a:t>Imagine sending crypto aid to a refugee camp. In Country A, it’s treated like a donation. In Country B, it’s considered a regulated financial service. Suddenly, your project might need a banking license before even starting.</a:t>
            </a:r>
            <a:endParaRPr i="1"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168" name="Shape 168"/>
        <p:cNvGrpSpPr/>
        <p:nvPr/>
      </p:nvGrpSpPr>
      <p:grpSpPr>
        <a:xfrm>
          <a:off x="0" y="0"/>
          <a:ext cx="0" cy="0"/>
          <a:chOff x="0" y="0"/>
          <a:chExt cx="0" cy="0"/>
        </a:xfrm>
      </p:grpSpPr>
      <p:sp>
        <p:nvSpPr>
          <p:cNvPr id="169" name="Google Shape;169;p19"/>
          <p:cNvSpPr/>
          <p:nvPr/>
        </p:nvSpPr>
        <p:spPr>
          <a:xfrm>
            <a:off x="470425" y="1704134"/>
            <a:ext cx="7641900" cy="12849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Smart contracts automate agreements on blockchain, but code alone doesn’t always equal legal enforceability.</a:t>
            </a:r>
            <a:endParaRPr sz="900">
              <a:solidFill>
                <a:srgbClr val="FFFFFF"/>
              </a:solidFill>
              <a:latin typeface="Poppins"/>
              <a:ea typeface="Poppins"/>
              <a:cs typeface="Poppins"/>
              <a:sym typeface="Poppins"/>
            </a:endParaRPr>
          </a:p>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Many jurisdictions do not yet recognize code as a legally binding contract, so a bug or unintended execution could create disputes.</a:t>
            </a:r>
            <a:endParaRPr sz="900">
              <a:solidFill>
                <a:srgbClr val="FFFFFF"/>
              </a:solidFill>
              <a:latin typeface="Poppins"/>
              <a:ea typeface="Poppins"/>
              <a:cs typeface="Poppins"/>
              <a:sym typeface="Poppins"/>
            </a:endParaRPr>
          </a:p>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Risks include coding errors, unexpected behaviors, or missing dispute mechanisms.</a:t>
            </a:r>
            <a:endParaRPr sz="900">
              <a:solidFill>
                <a:srgbClr val="FFFFFF"/>
              </a:solidFill>
              <a:latin typeface="Poppins"/>
              <a:ea typeface="Poppins"/>
              <a:cs typeface="Poppins"/>
              <a:sym typeface="Poppins"/>
            </a:endParaRPr>
          </a:p>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Best practice: combine smart contracts with traditional legal agreements to cover liability, jurisdiction, and remedies.</a:t>
            </a:r>
            <a:endParaRPr sz="900">
              <a:solidFill>
                <a:srgbClr val="FFFFFF"/>
              </a:solidFill>
              <a:latin typeface="Poppins"/>
              <a:ea typeface="Poppins"/>
              <a:cs typeface="Poppins"/>
              <a:sym typeface="Poppins"/>
            </a:endParaRPr>
          </a:p>
        </p:txBody>
      </p:sp>
      <p:pic>
        <p:nvPicPr>
          <p:cNvPr id="170" name="Google Shape;170;p19" title="Element.png"/>
          <p:cNvPicPr preferRelativeResize="0"/>
          <p:nvPr/>
        </p:nvPicPr>
        <p:blipFill rotWithShape="1">
          <a:blip r:embed="rId3">
            <a:alphaModFix/>
          </a:blip>
          <a:srcRect b="0" l="33590" r="0" t="67210"/>
          <a:stretch/>
        </p:blipFill>
        <p:spPr>
          <a:xfrm>
            <a:off x="-1" y="0"/>
            <a:ext cx="1528126" cy="761549"/>
          </a:xfrm>
          <a:prstGeom prst="rect">
            <a:avLst/>
          </a:prstGeom>
          <a:noFill/>
          <a:ln>
            <a:noFill/>
          </a:ln>
        </p:spPr>
      </p:pic>
      <p:grpSp>
        <p:nvGrpSpPr>
          <p:cNvPr id="171" name="Google Shape;171;p19"/>
          <p:cNvGrpSpPr/>
          <p:nvPr/>
        </p:nvGrpSpPr>
        <p:grpSpPr>
          <a:xfrm>
            <a:off x="4912054" y="4044727"/>
            <a:ext cx="4231939" cy="1102140"/>
            <a:chOff x="0" y="0"/>
            <a:chExt cx="9006042" cy="2344978"/>
          </a:xfrm>
        </p:grpSpPr>
        <p:sp>
          <p:nvSpPr>
            <p:cNvPr id="172" name="Google Shape;172;p19"/>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173" name="Google Shape;173;p19"/>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174" name="Google Shape;174;p19"/>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grpSp>
      <p:sp>
        <p:nvSpPr>
          <p:cNvPr id="175" name="Google Shape;175;p19"/>
          <p:cNvSpPr txBox="1"/>
          <p:nvPr/>
        </p:nvSpPr>
        <p:spPr>
          <a:xfrm>
            <a:off x="269150" y="516325"/>
            <a:ext cx="5607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Contract Law &amp; Smart Contracts</a:t>
            </a:r>
            <a:endParaRPr sz="2300">
              <a:solidFill>
                <a:srgbClr val="FFFFFF"/>
              </a:solidFill>
              <a:latin typeface="Poppins ExtraBold"/>
              <a:ea typeface="Poppins ExtraBold"/>
              <a:cs typeface="Poppins ExtraBold"/>
              <a:sym typeface="Poppins ExtraBold"/>
            </a:endParaRPr>
          </a:p>
        </p:txBody>
      </p:sp>
      <p:cxnSp>
        <p:nvCxnSpPr>
          <p:cNvPr id="176" name="Google Shape;176;p19"/>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177" name="Google Shape;177;p19"/>
          <p:cNvSpPr/>
          <p:nvPr/>
        </p:nvSpPr>
        <p:spPr>
          <a:xfrm>
            <a:off x="336725" y="1370800"/>
            <a:ext cx="2493000" cy="4152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Smart Contracts: Powerful but Not Magic</a:t>
            </a:r>
            <a:endParaRPr b="1" sz="600">
              <a:solidFill>
                <a:srgbClr val="FFFFFF"/>
              </a:solidFill>
              <a:latin typeface="Poppins"/>
              <a:ea typeface="Poppins"/>
              <a:cs typeface="Poppins"/>
              <a:sym typeface="Poppins"/>
            </a:endParaRPr>
          </a:p>
        </p:txBody>
      </p:sp>
      <p:sp>
        <p:nvSpPr>
          <p:cNvPr id="178" name="Google Shape;178;p19"/>
          <p:cNvSpPr/>
          <p:nvPr/>
        </p:nvSpPr>
        <p:spPr>
          <a:xfrm>
            <a:off x="1003825" y="3151928"/>
            <a:ext cx="7641900" cy="892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i="1" lang="en" sz="900">
                <a:solidFill>
                  <a:srgbClr val="FFFFFF"/>
                </a:solidFill>
                <a:latin typeface="Poppins Light"/>
                <a:ea typeface="Poppins Light"/>
                <a:cs typeface="Poppins Light"/>
                <a:sym typeface="Poppins Light"/>
              </a:rPr>
              <a:t>A humanitarian agency coded a smart contract to distribute aid when certain conditions were met. A minor logic error caused funds to be sent to the wrong group. Without a legal contract backing it, the agency had little recourse to reclaim the funds.</a:t>
            </a:r>
            <a:endParaRPr i="1" sz="900">
              <a:solidFill>
                <a:srgbClr val="FFFFFF"/>
              </a:solidFill>
              <a:latin typeface="Poppins Light"/>
              <a:ea typeface="Poppins Light"/>
              <a:cs typeface="Poppins Light"/>
              <a:sym typeface="Poppins Light"/>
            </a:endParaRPr>
          </a:p>
        </p:txBody>
      </p:sp>
      <p:sp>
        <p:nvSpPr>
          <p:cNvPr id="179" name="Google Shape;179;p19"/>
          <p:cNvSpPr/>
          <p:nvPr/>
        </p:nvSpPr>
        <p:spPr>
          <a:xfrm>
            <a:off x="870125" y="2941300"/>
            <a:ext cx="1241400" cy="292500"/>
          </a:xfrm>
          <a:prstGeom prst="rect">
            <a:avLst/>
          </a:prstGeom>
          <a:solidFill>
            <a:srgbClr val="FBC41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Example</a:t>
            </a:r>
            <a:endParaRPr b="1" sz="600">
              <a:solidFill>
                <a:srgbClr val="FFFFFF"/>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183" name="Shape 183"/>
        <p:cNvGrpSpPr/>
        <p:nvPr/>
      </p:nvGrpSpPr>
      <p:grpSpPr>
        <a:xfrm>
          <a:off x="0" y="0"/>
          <a:ext cx="0" cy="0"/>
          <a:chOff x="0" y="0"/>
          <a:chExt cx="0" cy="0"/>
        </a:xfrm>
      </p:grpSpPr>
      <p:grpSp>
        <p:nvGrpSpPr>
          <p:cNvPr id="184" name="Google Shape;184;p20"/>
          <p:cNvGrpSpPr/>
          <p:nvPr/>
        </p:nvGrpSpPr>
        <p:grpSpPr>
          <a:xfrm>
            <a:off x="4749604" y="151277"/>
            <a:ext cx="4231939" cy="1102140"/>
            <a:chOff x="0" y="0"/>
            <a:chExt cx="9006042" cy="2344978"/>
          </a:xfrm>
        </p:grpSpPr>
        <p:sp>
          <p:nvSpPr>
            <p:cNvPr id="185" name="Google Shape;185;p20"/>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186" name="Google Shape;186;p20"/>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187" name="Google Shape;187;p20"/>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pic>
        <p:nvPicPr>
          <p:cNvPr id="188" name="Google Shape;188;p20" title="Element.png"/>
          <p:cNvPicPr preferRelativeResize="0"/>
          <p:nvPr/>
        </p:nvPicPr>
        <p:blipFill rotWithShape="1">
          <a:blip r:embed="rId6">
            <a:alphaModFix/>
          </a:blip>
          <a:srcRect b="0" l="33590" r="0" t="67210"/>
          <a:stretch/>
        </p:blipFill>
        <p:spPr>
          <a:xfrm>
            <a:off x="-1" y="0"/>
            <a:ext cx="1528126" cy="761549"/>
          </a:xfrm>
          <a:prstGeom prst="rect">
            <a:avLst/>
          </a:prstGeom>
          <a:noFill/>
          <a:ln>
            <a:noFill/>
          </a:ln>
        </p:spPr>
      </p:pic>
      <p:sp>
        <p:nvSpPr>
          <p:cNvPr id="189" name="Google Shape;189;p20"/>
          <p:cNvSpPr txBox="1"/>
          <p:nvPr/>
        </p:nvSpPr>
        <p:spPr>
          <a:xfrm>
            <a:off x="129900" y="563075"/>
            <a:ext cx="4491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Liability &amp; Accountability</a:t>
            </a:r>
            <a:endParaRPr sz="2300">
              <a:solidFill>
                <a:srgbClr val="FFFFFF"/>
              </a:solidFill>
              <a:latin typeface="Poppins ExtraBold"/>
              <a:ea typeface="Poppins ExtraBold"/>
              <a:cs typeface="Poppins ExtraBold"/>
              <a:sym typeface="Poppins ExtraBold"/>
            </a:endParaRPr>
          </a:p>
        </p:txBody>
      </p:sp>
      <p:cxnSp>
        <p:nvCxnSpPr>
          <p:cNvPr id="190" name="Google Shape;190;p20"/>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191" name="Google Shape;191;p20"/>
          <p:cNvSpPr/>
          <p:nvPr/>
        </p:nvSpPr>
        <p:spPr>
          <a:xfrm>
            <a:off x="586250" y="2116150"/>
            <a:ext cx="3736800" cy="350100"/>
          </a:xfrm>
          <a:prstGeom prst="parallelogram">
            <a:avLst>
              <a:gd fmla="val 25000" name="adj"/>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Who’s Responsible When Blockchain Fails?</a:t>
            </a:r>
            <a:endParaRPr b="1" sz="900">
              <a:solidFill>
                <a:srgbClr val="FFFFFF"/>
              </a:solidFill>
              <a:latin typeface="Poppins"/>
              <a:ea typeface="Poppins"/>
              <a:cs typeface="Poppins"/>
              <a:sym typeface="Poppins"/>
            </a:endParaRPr>
          </a:p>
        </p:txBody>
      </p:sp>
      <p:sp>
        <p:nvSpPr>
          <p:cNvPr id="192" name="Google Shape;192;p20"/>
          <p:cNvSpPr/>
          <p:nvPr/>
        </p:nvSpPr>
        <p:spPr>
          <a:xfrm>
            <a:off x="586250" y="2708300"/>
            <a:ext cx="6822900" cy="467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177800" lvl="0" marL="400050" rtl="0" algn="l">
              <a:lnSpc>
                <a:spcPct val="115000"/>
              </a:lnSpc>
              <a:spcBef>
                <a:spcPts val="0"/>
              </a:spcBef>
              <a:spcAft>
                <a:spcPts val="0"/>
              </a:spcAft>
              <a:buClr>
                <a:srgbClr val="E71F72"/>
              </a:buClr>
              <a:buSzPts val="1000"/>
              <a:buFont typeface="Poppins"/>
              <a:buChar char="●"/>
            </a:pPr>
            <a:r>
              <a:rPr b="1" lang="en" sz="1000">
                <a:solidFill>
                  <a:schemeClr val="lt1"/>
                </a:solidFill>
                <a:latin typeface="Poppins"/>
                <a:ea typeface="Poppins"/>
                <a:cs typeface="Poppins"/>
                <a:sym typeface="Poppins"/>
              </a:rPr>
              <a:t>Unclear accountability</a:t>
            </a:r>
            <a:r>
              <a:rPr lang="en" sz="1000">
                <a:solidFill>
                  <a:schemeClr val="lt1"/>
                </a:solidFill>
                <a:latin typeface="Poppins"/>
                <a:ea typeface="Poppins"/>
                <a:cs typeface="Poppins"/>
                <a:sym typeface="Poppins"/>
              </a:rPr>
              <a:t>: Who is responsible if funds are lost, the developer, the implementing agency, or the validator network?</a:t>
            </a:r>
            <a:endParaRPr sz="700">
              <a:solidFill>
                <a:srgbClr val="FFFFFF"/>
              </a:solidFill>
              <a:latin typeface="Poppins SemiBold"/>
              <a:ea typeface="Poppins SemiBold"/>
              <a:cs typeface="Poppins SemiBold"/>
              <a:sym typeface="Poppins SemiBold"/>
            </a:endParaRPr>
          </a:p>
        </p:txBody>
      </p:sp>
      <p:sp>
        <p:nvSpPr>
          <p:cNvPr id="193" name="Google Shape;193;p20"/>
          <p:cNvSpPr txBox="1"/>
          <p:nvPr/>
        </p:nvSpPr>
        <p:spPr>
          <a:xfrm>
            <a:off x="431100" y="1420475"/>
            <a:ext cx="58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Blockchain is decentralized, transparent, and immutable, but when something goes wrong, liability can be confusing.</a:t>
            </a:r>
            <a:endParaRPr b="1" sz="1100">
              <a:solidFill>
                <a:schemeClr val="lt1"/>
              </a:solidFill>
              <a:latin typeface="Poppins"/>
              <a:ea typeface="Poppins"/>
              <a:cs typeface="Poppins"/>
              <a:sym typeface="Poppins"/>
            </a:endParaRPr>
          </a:p>
        </p:txBody>
      </p:sp>
      <p:sp>
        <p:nvSpPr>
          <p:cNvPr id="194" name="Google Shape;194;p20"/>
          <p:cNvSpPr/>
          <p:nvPr/>
        </p:nvSpPr>
        <p:spPr>
          <a:xfrm>
            <a:off x="433850" y="3317900"/>
            <a:ext cx="6822900" cy="467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177800" lvl="0" marL="400050" rtl="0" algn="l">
              <a:lnSpc>
                <a:spcPct val="115000"/>
              </a:lnSpc>
              <a:spcBef>
                <a:spcPts val="0"/>
              </a:spcBef>
              <a:spcAft>
                <a:spcPts val="0"/>
              </a:spcAft>
              <a:buClr>
                <a:srgbClr val="E71F72"/>
              </a:buClr>
              <a:buSzPts val="1000"/>
              <a:buFont typeface="Poppins"/>
              <a:buChar char="●"/>
            </a:pPr>
            <a:r>
              <a:rPr b="1" lang="en" sz="1000">
                <a:solidFill>
                  <a:schemeClr val="lt1"/>
                </a:solidFill>
                <a:latin typeface="Poppins"/>
                <a:ea typeface="Poppins"/>
                <a:cs typeface="Poppins"/>
                <a:sym typeface="Poppins"/>
              </a:rPr>
              <a:t>Legal gaps</a:t>
            </a:r>
            <a:r>
              <a:rPr lang="en" sz="1000">
                <a:solidFill>
                  <a:schemeClr val="lt1"/>
                </a:solidFill>
                <a:latin typeface="Poppins"/>
                <a:ea typeface="Poppins"/>
                <a:cs typeface="Poppins"/>
                <a:sym typeface="Poppins"/>
              </a:rPr>
              <a:t>: In permissionless systems, regulators may struggle to assign responsibility.</a:t>
            </a:r>
            <a:endParaRPr sz="700">
              <a:solidFill>
                <a:srgbClr val="FFFFFF"/>
              </a:solidFill>
              <a:latin typeface="Poppins SemiBold"/>
              <a:ea typeface="Poppins SemiBold"/>
              <a:cs typeface="Poppins SemiBold"/>
              <a:sym typeface="Poppins SemiBold"/>
            </a:endParaRPr>
          </a:p>
        </p:txBody>
      </p:sp>
      <p:sp>
        <p:nvSpPr>
          <p:cNvPr id="195" name="Google Shape;195;p20"/>
          <p:cNvSpPr/>
          <p:nvPr/>
        </p:nvSpPr>
        <p:spPr>
          <a:xfrm>
            <a:off x="281450" y="3927500"/>
            <a:ext cx="6822900" cy="467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177800" lvl="0" marL="400050" rtl="0" algn="l">
              <a:lnSpc>
                <a:spcPct val="115000"/>
              </a:lnSpc>
              <a:spcBef>
                <a:spcPts val="0"/>
              </a:spcBef>
              <a:spcAft>
                <a:spcPts val="0"/>
              </a:spcAft>
              <a:buClr>
                <a:srgbClr val="E71F72"/>
              </a:buClr>
              <a:buSzPts val="1000"/>
              <a:buFont typeface="Poppins"/>
              <a:buChar char="●"/>
            </a:pPr>
            <a:r>
              <a:rPr b="1" lang="en" sz="1000">
                <a:solidFill>
                  <a:schemeClr val="lt1"/>
                </a:solidFill>
                <a:latin typeface="Poppins"/>
                <a:ea typeface="Poppins"/>
                <a:cs typeface="Poppins"/>
                <a:sym typeface="Poppins"/>
              </a:rPr>
              <a:t>Mitigation strategies</a:t>
            </a:r>
            <a:r>
              <a:rPr lang="en" sz="1000">
                <a:solidFill>
                  <a:schemeClr val="lt1"/>
                </a:solidFill>
                <a:latin typeface="Poppins"/>
                <a:ea typeface="Poppins"/>
                <a:cs typeface="Poppins"/>
                <a:sym typeface="Poppins"/>
              </a:rPr>
              <a:t>: Clearly define governance rules, liability clauses in contracts, and insurance coverage.</a:t>
            </a:r>
            <a:endParaRPr sz="700">
              <a:solidFill>
                <a:srgbClr val="FFFFFF"/>
              </a:solidFill>
              <a:latin typeface="Poppins SemiBold"/>
              <a:ea typeface="Poppins SemiBold"/>
              <a:cs typeface="Poppins SemiBold"/>
              <a:sym typeface="Poppi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199" name="Shape 199"/>
        <p:cNvGrpSpPr/>
        <p:nvPr/>
      </p:nvGrpSpPr>
      <p:grpSpPr>
        <a:xfrm>
          <a:off x="0" y="0"/>
          <a:ext cx="0" cy="0"/>
          <a:chOff x="0" y="0"/>
          <a:chExt cx="0" cy="0"/>
        </a:xfrm>
      </p:grpSpPr>
      <p:grpSp>
        <p:nvGrpSpPr>
          <p:cNvPr id="200" name="Google Shape;200;p21"/>
          <p:cNvGrpSpPr/>
          <p:nvPr/>
        </p:nvGrpSpPr>
        <p:grpSpPr>
          <a:xfrm>
            <a:off x="4749604" y="151277"/>
            <a:ext cx="4231939" cy="1102140"/>
            <a:chOff x="0" y="0"/>
            <a:chExt cx="9006042" cy="2344978"/>
          </a:xfrm>
        </p:grpSpPr>
        <p:sp>
          <p:nvSpPr>
            <p:cNvPr id="201" name="Google Shape;201;p21"/>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202" name="Google Shape;202;p21"/>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203" name="Google Shape;203;p21"/>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pic>
        <p:nvPicPr>
          <p:cNvPr id="204" name="Google Shape;204;p21" title="Element.png"/>
          <p:cNvPicPr preferRelativeResize="0"/>
          <p:nvPr/>
        </p:nvPicPr>
        <p:blipFill rotWithShape="1">
          <a:blip r:embed="rId6">
            <a:alphaModFix/>
          </a:blip>
          <a:srcRect b="0" l="33590" r="0" t="67210"/>
          <a:stretch/>
        </p:blipFill>
        <p:spPr>
          <a:xfrm>
            <a:off x="-1" y="0"/>
            <a:ext cx="1528126" cy="761549"/>
          </a:xfrm>
          <a:prstGeom prst="rect">
            <a:avLst/>
          </a:prstGeom>
          <a:noFill/>
          <a:ln>
            <a:noFill/>
          </a:ln>
        </p:spPr>
      </p:pic>
      <p:sp>
        <p:nvSpPr>
          <p:cNvPr id="205" name="Google Shape;205;p21"/>
          <p:cNvSpPr txBox="1"/>
          <p:nvPr/>
        </p:nvSpPr>
        <p:spPr>
          <a:xfrm>
            <a:off x="-49650" y="510850"/>
            <a:ext cx="4581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chemeClr val="lt1"/>
                </a:solidFill>
                <a:latin typeface="Poppins ExtraBold"/>
                <a:ea typeface="Poppins ExtraBold"/>
                <a:cs typeface="Poppins ExtraBold"/>
                <a:sym typeface="Poppins ExtraBold"/>
              </a:rPr>
              <a:t>Intellectual Property (IP)</a:t>
            </a:r>
            <a:endParaRPr sz="1900">
              <a:solidFill>
                <a:srgbClr val="FFFFFF"/>
              </a:solidFill>
              <a:latin typeface="Poppins ExtraBold"/>
              <a:ea typeface="Poppins ExtraBold"/>
              <a:cs typeface="Poppins ExtraBold"/>
              <a:sym typeface="Poppins ExtraBold"/>
            </a:endParaRPr>
          </a:p>
        </p:txBody>
      </p:sp>
      <p:cxnSp>
        <p:nvCxnSpPr>
          <p:cNvPr id="206" name="Google Shape;206;p21"/>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207" name="Google Shape;207;p21"/>
          <p:cNvSpPr/>
          <p:nvPr/>
        </p:nvSpPr>
        <p:spPr>
          <a:xfrm>
            <a:off x="401450" y="280137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Transparent, auditable, fosters collaboration, but gives less control over modifications or commercial use</a:t>
            </a:r>
            <a:endParaRPr sz="900">
              <a:solidFill>
                <a:srgbClr val="FFFFFF"/>
              </a:solidFill>
              <a:latin typeface="Poppins"/>
              <a:ea typeface="Poppins"/>
              <a:cs typeface="Poppins"/>
              <a:sym typeface="Poppins"/>
            </a:endParaRPr>
          </a:p>
        </p:txBody>
      </p:sp>
      <p:sp>
        <p:nvSpPr>
          <p:cNvPr id="208" name="Google Shape;208;p21"/>
          <p:cNvSpPr txBox="1"/>
          <p:nvPr/>
        </p:nvSpPr>
        <p:spPr>
          <a:xfrm>
            <a:off x="422564"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Open-source software</a:t>
            </a:r>
            <a:endParaRPr sz="900">
              <a:solidFill>
                <a:srgbClr val="FFFFFF"/>
              </a:solidFill>
              <a:latin typeface="Poppins SemiBold"/>
              <a:ea typeface="Poppins SemiBold"/>
              <a:cs typeface="Poppins SemiBold"/>
              <a:sym typeface="Poppins SemiBold"/>
            </a:endParaRPr>
          </a:p>
        </p:txBody>
      </p:sp>
      <p:sp>
        <p:nvSpPr>
          <p:cNvPr id="209" name="Google Shape;209;p21"/>
          <p:cNvSpPr/>
          <p:nvPr/>
        </p:nvSpPr>
        <p:spPr>
          <a:xfrm>
            <a:off x="1762125" y="280132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Full control, can monetize easily, but may create dependency on vendors and reduce transparency.</a:t>
            </a:r>
            <a:endParaRPr sz="900">
              <a:solidFill>
                <a:srgbClr val="FFFFFF"/>
              </a:solidFill>
              <a:latin typeface="Poppins"/>
              <a:ea typeface="Poppins"/>
              <a:cs typeface="Poppins"/>
              <a:sym typeface="Poppins"/>
            </a:endParaRPr>
          </a:p>
        </p:txBody>
      </p:sp>
      <p:sp>
        <p:nvSpPr>
          <p:cNvPr id="210" name="Google Shape;210;p21"/>
          <p:cNvSpPr txBox="1"/>
          <p:nvPr/>
        </p:nvSpPr>
        <p:spPr>
          <a:xfrm>
            <a:off x="1783236"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Proprietary solutions</a:t>
            </a:r>
            <a:endParaRPr sz="900">
              <a:solidFill>
                <a:srgbClr val="FFFFFF"/>
              </a:solidFill>
              <a:latin typeface="Poppins SemiBold"/>
              <a:ea typeface="Poppins SemiBold"/>
              <a:cs typeface="Poppins SemiBold"/>
              <a:sym typeface="Poppins SemiBold"/>
            </a:endParaRPr>
          </a:p>
        </p:txBody>
      </p:sp>
      <p:sp>
        <p:nvSpPr>
          <p:cNvPr id="211" name="Google Shape;211;p21"/>
          <p:cNvSpPr/>
          <p:nvPr/>
        </p:nvSpPr>
        <p:spPr>
          <a:xfrm>
            <a:off x="3122800" y="280132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Open-source core with proprietary modules balance control, collaboration, and transparency.</a:t>
            </a:r>
            <a:endParaRPr sz="900">
              <a:solidFill>
                <a:srgbClr val="FFFFFF"/>
              </a:solidFill>
              <a:latin typeface="Poppins"/>
              <a:ea typeface="Poppins"/>
              <a:cs typeface="Poppins"/>
              <a:sym typeface="Poppins"/>
            </a:endParaRPr>
          </a:p>
        </p:txBody>
      </p:sp>
      <p:sp>
        <p:nvSpPr>
          <p:cNvPr id="212" name="Google Shape;212;p21"/>
          <p:cNvSpPr txBox="1"/>
          <p:nvPr/>
        </p:nvSpPr>
        <p:spPr>
          <a:xfrm>
            <a:off x="3143908"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Hybrid models</a:t>
            </a:r>
            <a:endParaRPr sz="900">
              <a:solidFill>
                <a:srgbClr val="FFFFFF"/>
              </a:solidFill>
              <a:latin typeface="Poppins SemiBold"/>
              <a:ea typeface="Poppins SemiBold"/>
              <a:cs typeface="Poppins SemiBold"/>
              <a:sym typeface="Poppins SemiBold"/>
            </a:endParaRPr>
          </a:p>
          <a:p>
            <a:pPr indent="0" lvl="0" marL="0" rtl="0" algn="ctr">
              <a:lnSpc>
                <a:spcPct val="80000"/>
              </a:lnSpc>
              <a:spcBef>
                <a:spcPts val="0"/>
              </a:spcBef>
              <a:spcAft>
                <a:spcPts val="0"/>
              </a:spcAft>
              <a:buNone/>
            </a:pPr>
            <a:r>
              <a:t/>
            </a:r>
            <a:endParaRPr sz="900">
              <a:solidFill>
                <a:srgbClr val="FFFFFF"/>
              </a:solidFill>
              <a:latin typeface="Poppins SemiBold"/>
              <a:ea typeface="Poppins SemiBold"/>
              <a:cs typeface="Poppins SemiBold"/>
              <a:sym typeface="Poppins SemiBold"/>
            </a:endParaRPr>
          </a:p>
        </p:txBody>
      </p:sp>
      <p:sp>
        <p:nvSpPr>
          <p:cNvPr id="213" name="Google Shape;213;p21"/>
          <p:cNvSpPr txBox="1"/>
          <p:nvPr/>
        </p:nvSpPr>
        <p:spPr>
          <a:xfrm>
            <a:off x="389475" y="1350488"/>
            <a:ext cx="7259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Who Owns the Code, Tokens, and Assets?</a:t>
            </a:r>
            <a:br>
              <a:rPr lang="en" sz="1100">
                <a:solidFill>
                  <a:schemeClr val="lt1"/>
                </a:solidFill>
                <a:latin typeface="Poppins Medium"/>
                <a:ea typeface="Poppins Medium"/>
                <a:cs typeface="Poppins Medium"/>
                <a:sym typeface="Poppins Medium"/>
              </a:rPr>
            </a:br>
            <a:endParaRPr sz="1100">
              <a:solidFill>
                <a:schemeClr val="lt1"/>
              </a:solidFill>
              <a:latin typeface="Poppins Medium"/>
              <a:ea typeface="Poppins Medium"/>
              <a:cs typeface="Poppins Medium"/>
              <a:sym typeface="Poppins Medium"/>
            </a:endParaRPr>
          </a:p>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Blockchain projects in development involve multiple digital assets: smart contracts, tokens, and sometimes NFTs. Clear IP rules are essential to prevent disputes and ensure sustainability</a:t>
            </a:r>
            <a:endParaRPr sz="1100">
              <a:solidFill>
                <a:schemeClr val="lt1"/>
              </a:solidFill>
              <a:latin typeface="Poppins Medium"/>
              <a:ea typeface="Poppins Medium"/>
              <a:cs typeface="Poppins Medium"/>
              <a:sym typeface="Poppins Medium"/>
            </a:endParaRPr>
          </a:p>
        </p:txBody>
      </p:sp>
      <p:sp>
        <p:nvSpPr>
          <p:cNvPr id="214" name="Google Shape;214;p21"/>
          <p:cNvSpPr/>
          <p:nvPr/>
        </p:nvSpPr>
        <p:spPr>
          <a:xfrm>
            <a:off x="4516250" y="280137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Decide early which license applies (MIT, GPL, proprietary), especially for shared platforms</a:t>
            </a:r>
            <a:endParaRPr sz="900">
              <a:solidFill>
                <a:srgbClr val="FFFFFF"/>
              </a:solidFill>
              <a:latin typeface="Poppins"/>
              <a:ea typeface="Poppins"/>
              <a:cs typeface="Poppins"/>
              <a:sym typeface="Poppins"/>
            </a:endParaRPr>
          </a:p>
        </p:txBody>
      </p:sp>
      <p:sp>
        <p:nvSpPr>
          <p:cNvPr id="215" name="Google Shape;215;p21"/>
          <p:cNvSpPr txBox="1"/>
          <p:nvPr/>
        </p:nvSpPr>
        <p:spPr>
          <a:xfrm>
            <a:off x="4537364"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Licensing</a:t>
            </a:r>
            <a:endParaRPr sz="900">
              <a:solidFill>
                <a:srgbClr val="FFFFFF"/>
              </a:solidFill>
              <a:latin typeface="Poppins SemiBold"/>
              <a:ea typeface="Poppins SemiBold"/>
              <a:cs typeface="Poppins SemiBold"/>
              <a:sym typeface="Poppins SemiBold"/>
            </a:endParaRPr>
          </a:p>
          <a:p>
            <a:pPr indent="0" lvl="0" marL="0" rtl="0" algn="ctr">
              <a:lnSpc>
                <a:spcPct val="80000"/>
              </a:lnSpc>
              <a:spcBef>
                <a:spcPts val="0"/>
              </a:spcBef>
              <a:spcAft>
                <a:spcPts val="0"/>
              </a:spcAft>
              <a:buNone/>
            </a:pPr>
            <a:r>
              <a:t/>
            </a:r>
            <a:endParaRPr sz="900">
              <a:solidFill>
                <a:srgbClr val="FFFFFF"/>
              </a:solidFill>
              <a:latin typeface="Poppins SemiBold"/>
              <a:ea typeface="Poppins SemiBold"/>
              <a:cs typeface="Poppins SemiBold"/>
              <a:sym typeface="Poppins SemiBold"/>
            </a:endParaRPr>
          </a:p>
        </p:txBody>
      </p:sp>
      <p:sp>
        <p:nvSpPr>
          <p:cNvPr id="216" name="Google Shape;216;p21"/>
          <p:cNvSpPr/>
          <p:nvPr/>
        </p:nvSpPr>
        <p:spPr>
          <a:xfrm>
            <a:off x="5876925" y="280132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Respect and protect innovations from local communities or beneficiaries. Consider co-ownership or attribution clauses</a:t>
            </a:r>
            <a:endParaRPr sz="900">
              <a:solidFill>
                <a:srgbClr val="FFFFFF"/>
              </a:solidFill>
              <a:latin typeface="Poppins"/>
              <a:ea typeface="Poppins"/>
              <a:cs typeface="Poppins"/>
              <a:sym typeface="Poppins"/>
            </a:endParaRPr>
          </a:p>
        </p:txBody>
      </p:sp>
      <p:sp>
        <p:nvSpPr>
          <p:cNvPr id="217" name="Google Shape;217;p21"/>
          <p:cNvSpPr txBox="1"/>
          <p:nvPr/>
        </p:nvSpPr>
        <p:spPr>
          <a:xfrm>
            <a:off x="5898036"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Community contributions</a:t>
            </a:r>
            <a:endParaRPr sz="900">
              <a:solidFill>
                <a:srgbClr val="FFFFFF"/>
              </a:solidFill>
              <a:latin typeface="Poppins SemiBold"/>
              <a:ea typeface="Poppins SemiBold"/>
              <a:cs typeface="Poppins SemiBold"/>
              <a:sym typeface="Poppins SemiBold"/>
            </a:endParaRPr>
          </a:p>
        </p:txBody>
      </p:sp>
      <p:sp>
        <p:nvSpPr>
          <p:cNvPr id="218" name="Google Shape;218;p21"/>
          <p:cNvSpPr/>
          <p:nvPr/>
        </p:nvSpPr>
        <p:spPr>
          <a:xfrm>
            <a:off x="7237600" y="2801325"/>
            <a:ext cx="1264500" cy="1491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Poppins"/>
                <a:ea typeface="Poppins"/>
                <a:cs typeface="Poppins"/>
                <a:sym typeface="Poppins"/>
              </a:rPr>
              <a:t>Clarify who owns tokens issued, who can mint/burn, and who has economic or governance rights.</a:t>
            </a:r>
            <a:endParaRPr sz="900">
              <a:solidFill>
                <a:srgbClr val="FFFFFF"/>
              </a:solidFill>
              <a:latin typeface="Poppins"/>
              <a:ea typeface="Poppins"/>
              <a:cs typeface="Poppins"/>
              <a:sym typeface="Poppins"/>
            </a:endParaRPr>
          </a:p>
        </p:txBody>
      </p:sp>
      <p:sp>
        <p:nvSpPr>
          <p:cNvPr id="219" name="Google Shape;219;p21"/>
          <p:cNvSpPr txBox="1"/>
          <p:nvPr/>
        </p:nvSpPr>
        <p:spPr>
          <a:xfrm>
            <a:off x="7258708" y="2228625"/>
            <a:ext cx="1188900" cy="406200"/>
          </a:xfrm>
          <a:prstGeom prst="rect">
            <a:avLst/>
          </a:prstGeom>
          <a:solidFill>
            <a:srgbClr val="FBC410"/>
          </a:solid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900">
                <a:solidFill>
                  <a:srgbClr val="FFFFFF"/>
                </a:solidFill>
                <a:latin typeface="Poppins SemiBold"/>
                <a:ea typeface="Poppins SemiBold"/>
                <a:cs typeface="Poppins SemiBold"/>
                <a:sym typeface="Poppins SemiBold"/>
              </a:rPr>
              <a:t>Token/IP rights</a:t>
            </a:r>
            <a:endParaRPr sz="900">
              <a:solidFill>
                <a:srgbClr val="FFFFFF"/>
              </a:solidFill>
              <a:latin typeface="Poppins SemiBold"/>
              <a:ea typeface="Poppins SemiBold"/>
              <a:cs typeface="Poppins SemiBold"/>
              <a:sym typeface="Poppins SemiBold"/>
            </a:endParaRPr>
          </a:p>
          <a:p>
            <a:pPr indent="0" lvl="0" marL="0" rtl="0" algn="ctr">
              <a:lnSpc>
                <a:spcPct val="80000"/>
              </a:lnSpc>
              <a:spcBef>
                <a:spcPts val="0"/>
              </a:spcBef>
              <a:spcAft>
                <a:spcPts val="0"/>
              </a:spcAft>
              <a:buNone/>
            </a:pPr>
            <a:r>
              <a:t/>
            </a:r>
            <a:endParaRPr sz="900">
              <a:solidFill>
                <a:srgbClr val="FFFFFF"/>
              </a:solidFill>
              <a:latin typeface="Poppins SemiBold"/>
              <a:ea typeface="Poppins SemiBold"/>
              <a:cs typeface="Poppins SemiBold"/>
              <a:sym typeface="Poppins SemiBold"/>
            </a:endParaRPr>
          </a:p>
        </p:txBody>
      </p:sp>
      <p:sp>
        <p:nvSpPr>
          <p:cNvPr id="220" name="Google Shape;220;p21"/>
          <p:cNvSpPr/>
          <p:nvPr/>
        </p:nvSpPr>
        <p:spPr>
          <a:xfrm>
            <a:off x="741950" y="4540550"/>
            <a:ext cx="7259700" cy="350100"/>
          </a:xfrm>
          <a:prstGeom prst="parallelogram">
            <a:avLst>
              <a:gd fmla="val 25000" name="adj"/>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900">
                <a:solidFill>
                  <a:srgbClr val="FFFFFF"/>
                </a:solidFill>
                <a:latin typeface="Montserrat"/>
                <a:ea typeface="Montserrat"/>
                <a:cs typeface="Montserrat"/>
                <a:sym typeface="Montserrat"/>
              </a:rPr>
              <a:t>Most </a:t>
            </a:r>
            <a:r>
              <a:rPr b="1" i="1" lang="en" sz="900">
                <a:solidFill>
                  <a:srgbClr val="FFFFFF"/>
                </a:solidFill>
                <a:latin typeface="Montserrat"/>
                <a:ea typeface="Montserrat"/>
                <a:cs typeface="Montserrat"/>
                <a:sym typeface="Montserrat"/>
              </a:rPr>
              <a:t>importantly,</a:t>
            </a:r>
            <a:r>
              <a:rPr b="1" i="1" lang="en" sz="900">
                <a:solidFill>
                  <a:srgbClr val="FFFFFF"/>
                </a:solidFill>
                <a:latin typeface="Montserrat"/>
                <a:ea typeface="Montserrat"/>
                <a:cs typeface="Montserrat"/>
                <a:sym typeface="Montserrat"/>
              </a:rPr>
              <a:t> include terms for upgrades, forks, or migration of the platform to prevent disputes later.</a:t>
            </a:r>
            <a:endParaRPr b="1" i="1" sz="900">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224" name="Shape 224"/>
        <p:cNvGrpSpPr/>
        <p:nvPr/>
      </p:nvGrpSpPr>
      <p:grpSpPr>
        <a:xfrm>
          <a:off x="0" y="0"/>
          <a:ext cx="0" cy="0"/>
          <a:chOff x="0" y="0"/>
          <a:chExt cx="0" cy="0"/>
        </a:xfrm>
      </p:grpSpPr>
      <p:sp>
        <p:nvSpPr>
          <p:cNvPr id="225" name="Google Shape;225;p22"/>
          <p:cNvSpPr/>
          <p:nvPr/>
        </p:nvSpPr>
        <p:spPr>
          <a:xfrm>
            <a:off x="470425" y="2389926"/>
            <a:ext cx="7641900" cy="493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Countries may classify tokens differently, as currency, securities, or commodities.</a:t>
            </a:r>
            <a:endParaRPr sz="900">
              <a:solidFill>
                <a:srgbClr val="FFFFFF"/>
              </a:solidFill>
              <a:latin typeface="Poppins"/>
              <a:ea typeface="Poppins"/>
              <a:cs typeface="Poppins"/>
              <a:sym typeface="Poppins"/>
            </a:endParaRPr>
          </a:p>
        </p:txBody>
      </p:sp>
      <p:pic>
        <p:nvPicPr>
          <p:cNvPr id="226" name="Google Shape;226;p22" title="Element.png"/>
          <p:cNvPicPr preferRelativeResize="0"/>
          <p:nvPr/>
        </p:nvPicPr>
        <p:blipFill rotWithShape="1">
          <a:blip r:embed="rId3">
            <a:alphaModFix/>
          </a:blip>
          <a:srcRect b="0" l="33590" r="0" t="67210"/>
          <a:stretch/>
        </p:blipFill>
        <p:spPr>
          <a:xfrm>
            <a:off x="-1" y="0"/>
            <a:ext cx="1528126" cy="761549"/>
          </a:xfrm>
          <a:prstGeom prst="rect">
            <a:avLst/>
          </a:prstGeom>
          <a:noFill/>
          <a:ln>
            <a:noFill/>
          </a:ln>
        </p:spPr>
      </p:pic>
      <p:grpSp>
        <p:nvGrpSpPr>
          <p:cNvPr id="227" name="Google Shape;227;p22"/>
          <p:cNvGrpSpPr/>
          <p:nvPr/>
        </p:nvGrpSpPr>
        <p:grpSpPr>
          <a:xfrm>
            <a:off x="4745254" y="65177"/>
            <a:ext cx="4231939" cy="1102140"/>
            <a:chOff x="0" y="0"/>
            <a:chExt cx="9006042" cy="2344978"/>
          </a:xfrm>
        </p:grpSpPr>
        <p:sp>
          <p:nvSpPr>
            <p:cNvPr id="228" name="Google Shape;228;p22"/>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229" name="Google Shape;229;p22"/>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230" name="Google Shape;230;p22"/>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grpSp>
      <p:sp>
        <p:nvSpPr>
          <p:cNvPr id="231" name="Google Shape;231;p22"/>
          <p:cNvSpPr txBox="1"/>
          <p:nvPr/>
        </p:nvSpPr>
        <p:spPr>
          <a:xfrm>
            <a:off x="-86725" y="544125"/>
            <a:ext cx="5607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Cross-Border Challenges</a:t>
            </a:r>
            <a:endParaRPr sz="2300">
              <a:solidFill>
                <a:srgbClr val="FFFFFF"/>
              </a:solidFill>
              <a:latin typeface="Poppins ExtraBold"/>
              <a:ea typeface="Poppins ExtraBold"/>
              <a:cs typeface="Poppins ExtraBold"/>
              <a:sym typeface="Poppins ExtraBold"/>
            </a:endParaRPr>
          </a:p>
        </p:txBody>
      </p:sp>
      <p:cxnSp>
        <p:nvCxnSpPr>
          <p:cNvPr id="232" name="Google Shape;232;p22"/>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233" name="Google Shape;233;p22"/>
          <p:cNvSpPr/>
          <p:nvPr/>
        </p:nvSpPr>
        <p:spPr>
          <a:xfrm>
            <a:off x="286675" y="2193050"/>
            <a:ext cx="2119800" cy="2580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Divergent regulations</a:t>
            </a:r>
            <a:endParaRPr b="1" sz="600">
              <a:solidFill>
                <a:srgbClr val="FFFFFF"/>
              </a:solidFill>
              <a:latin typeface="Poppins"/>
              <a:ea typeface="Poppins"/>
              <a:cs typeface="Poppins"/>
              <a:sym typeface="Poppins"/>
            </a:endParaRPr>
          </a:p>
        </p:txBody>
      </p:sp>
      <p:sp>
        <p:nvSpPr>
          <p:cNvPr id="234" name="Google Shape;234;p22"/>
          <p:cNvSpPr/>
          <p:nvPr/>
        </p:nvSpPr>
        <p:spPr>
          <a:xfrm>
            <a:off x="622825" y="2999526"/>
            <a:ext cx="7641900" cy="493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Some countries legally recognize smart contracts; others do not.</a:t>
            </a:r>
            <a:endParaRPr sz="900">
              <a:solidFill>
                <a:srgbClr val="FFFFFF"/>
              </a:solidFill>
              <a:latin typeface="Poppins"/>
              <a:ea typeface="Poppins"/>
              <a:cs typeface="Poppins"/>
              <a:sym typeface="Poppins"/>
            </a:endParaRPr>
          </a:p>
        </p:txBody>
      </p:sp>
      <p:sp>
        <p:nvSpPr>
          <p:cNvPr id="235" name="Google Shape;235;p22"/>
          <p:cNvSpPr/>
          <p:nvPr/>
        </p:nvSpPr>
        <p:spPr>
          <a:xfrm>
            <a:off x="439075" y="2802650"/>
            <a:ext cx="2119800" cy="2580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Smart contract recognition</a:t>
            </a:r>
            <a:endParaRPr b="1" sz="600">
              <a:solidFill>
                <a:srgbClr val="FFFFFF"/>
              </a:solidFill>
              <a:latin typeface="Poppins"/>
              <a:ea typeface="Poppins"/>
              <a:cs typeface="Poppins"/>
              <a:sym typeface="Poppins"/>
            </a:endParaRPr>
          </a:p>
        </p:txBody>
      </p:sp>
      <p:sp>
        <p:nvSpPr>
          <p:cNvPr id="236" name="Google Shape;236;p22"/>
          <p:cNvSpPr/>
          <p:nvPr/>
        </p:nvSpPr>
        <p:spPr>
          <a:xfrm>
            <a:off x="775225" y="3609126"/>
            <a:ext cx="7641900" cy="493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A solution compliant in one country may require additional approvals elsewhere.</a:t>
            </a:r>
            <a:endParaRPr sz="900">
              <a:solidFill>
                <a:srgbClr val="FFFFFF"/>
              </a:solidFill>
              <a:latin typeface="Poppins"/>
              <a:ea typeface="Poppins"/>
              <a:cs typeface="Poppins"/>
              <a:sym typeface="Poppins"/>
            </a:endParaRPr>
          </a:p>
        </p:txBody>
      </p:sp>
      <p:sp>
        <p:nvSpPr>
          <p:cNvPr id="237" name="Google Shape;237;p22"/>
          <p:cNvSpPr/>
          <p:nvPr/>
        </p:nvSpPr>
        <p:spPr>
          <a:xfrm>
            <a:off x="591475" y="3412250"/>
            <a:ext cx="2119800" cy="2580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Licensing and permits</a:t>
            </a:r>
            <a:endParaRPr b="1" sz="600">
              <a:solidFill>
                <a:srgbClr val="FFFFFF"/>
              </a:solidFill>
              <a:latin typeface="Poppins"/>
              <a:ea typeface="Poppins"/>
              <a:cs typeface="Poppins"/>
              <a:sym typeface="Poppins"/>
            </a:endParaRPr>
          </a:p>
        </p:txBody>
      </p:sp>
      <p:sp>
        <p:nvSpPr>
          <p:cNvPr id="238" name="Google Shape;238;p22"/>
          <p:cNvSpPr/>
          <p:nvPr/>
        </p:nvSpPr>
        <p:spPr>
          <a:xfrm>
            <a:off x="927625" y="4218726"/>
            <a:ext cx="7641900" cy="493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Conduct regulatory mapping and engage local legal counsel before launch.</a:t>
            </a:r>
            <a:endParaRPr sz="900">
              <a:solidFill>
                <a:srgbClr val="FFFFFF"/>
              </a:solidFill>
              <a:latin typeface="Poppins"/>
              <a:ea typeface="Poppins"/>
              <a:cs typeface="Poppins"/>
              <a:sym typeface="Poppins"/>
            </a:endParaRPr>
          </a:p>
        </p:txBody>
      </p:sp>
      <p:sp>
        <p:nvSpPr>
          <p:cNvPr id="239" name="Google Shape;239;p22"/>
          <p:cNvSpPr/>
          <p:nvPr/>
        </p:nvSpPr>
        <p:spPr>
          <a:xfrm>
            <a:off x="743875" y="4021850"/>
            <a:ext cx="2119800" cy="2580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Risk mitigation</a:t>
            </a:r>
            <a:endParaRPr b="1" sz="600">
              <a:solidFill>
                <a:srgbClr val="FFFFFF"/>
              </a:solidFill>
              <a:latin typeface="Poppins"/>
              <a:ea typeface="Poppins"/>
              <a:cs typeface="Poppins"/>
              <a:sym typeface="Poppins"/>
            </a:endParaRPr>
          </a:p>
        </p:txBody>
      </p:sp>
      <p:sp>
        <p:nvSpPr>
          <p:cNvPr id="240" name="Google Shape;240;p22"/>
          <p:cNvSpPr txBox="1"/>
          <p:nvPr/>
        </p:nvSpPr>
        <p:spPr>
          <a:xfrm>
            <a:off x="389475" y="1350488"/>
            <a:ext cx="7259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Medium"/>
                <a:ea typeface="Poppins Medium"/>
                <a:cs typeface="Poppins Medium"/>
                <a:sym typeface="Poppins Medium"/>
              </a:rPr>
              <a:t>Blockchain development projects often span multiple countries, each with different laws on data, finance, and digital assets. Understanding these differences is crucial to avoid regulatory violations or project delays</a:t>
            </a:r>
            <a:endParaRPr sz="1100">
              <a:solidFill>
                <a:schemeClr val="lt1"/>
              </a:solidFill>
              <a:latin typeface="Poppins Medium"/>
              <a:ea typeface="Poppins Medium"/>
              <a:cs typeface="Poppins Medium"/>
              <a:sym typeface="Poppi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244" name="Shape 244"/>
        <p:cNvGrpSpPr/>
        <p:nvPr/>
      </p:nvGrpSpPr>
      <p:grpSpPr>
        <a:xfrm>
          <a:off x="0" y="0"/>
          <a:ext cx="0" cy="0"/>
          <a:chOff x="0" y="0"/>
          <a:chExt cx="0" cy="0"/>
        </a:xfrm>
      </p:grpSpPr>
      <p:sp>
        <p:nvSpPr>
          <p:cNvPr id="245" name="Google Shape;245;p23"/>
          <p:cNvSpPr/>
          <p:nvPr/>
        </p:nvSpPr>
        <p:spPr>
          <a:xfrm>
            <a:off x="474325" y="2196150"/>
            <a:ext cx="6087600" cy="1102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114300" lvl="0" marL="28575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Blockchain used to send USDC stablecoins to refugees’ digital wallets.</a:t>
            </a:r>
            <a:endParaRPr sz="900">
              <a:solidFill>
                <a:srgbClr val="FFFFFF"/>
              </a:solidFill>
              <a:latin typeface="Poppins"/>
              <a:ea typeface="Poppins"/>
              <a:cs typeface="Poppins"/>
              <a:sym typeface="Poppins"/>
            </a:endParaRPr>
          </a:p>
          <a:p>
            <a:pPr indent="-114300" lvl="0" marL="285750" rtl="0" algn="l">
              <a:lnSpc>
                <a:spcPct val="115000"/>
              </a:lnSpc>
              <a:spcBef>
                <a:spcPts val="0"/>
              </a:spcBef>
              <a:spcAft>
                <a:spcPts val="0"/>
              </a:spcAft>
              <a:buClr>
                <a:srgbClr val="FFFFFF"/>
              </a:buClr>
              <a:buSzPts val="900"/>
              <a:buFont typeface="Poppins"/>
              <a:buChar char="●"/>
            </a:pPr>
            <a:r>
              <a:rPr b="1" lang="en" sz="900">
                <a:solidFill>
                  <a:srgbClr val="FFFFFF"/>
                </a:solidFill>
                <a:latin typeface="Poppins"/>
                <a:ea typeface="Poppins"/>
                <a:cs typeface="Poppins"/>
                <a:sym typeface="Poppins"/>
              </a:rPr>
              <a:t>Challenges</a:t>
            </a:r>
            <a:r>
              <a:rPr lang="en" sz="900">
                <a:solidFill>
                  <a:srgbClr val="FFFFFF"/>
                </a:solidFill>
                <a:latin typeface="Poppins"/>
                <a:ea typeface="Poppins"/>
                <a:cs typeface="Poppins"/>
                <a:sym typeface="Poppins"/>
              </a:rPr>
              <a:t>: Cross-border regulatory compliance, KYC/AML requirements, and wallet access for beneficiaries.</a:t>
            </a:r>
            <a:endParaRPr sz="900">
              <a:solidFill>
                <a:srgbClr val="FFFFFF"/>
              </a:solidFill>
              <a:latin typeface="Poppins"/>
              <a:ea typeface="Poppins"/>
              <a:cs typeface="Poppins"/>
              <a:sym typeface="Poppins"/>
            </a:endParaRPr>
          </a:p>
          <a:p>
            <a:pPr indent="-114300" lvl="0" marL="285750" rtl="0" algn="l">
              <a:lnSpc>
                <a:spcPct val="115000"/>
              </a:lnSpc>
              <a:spcBef>
                <a:spcPts val="0"/>
              </a:spcBef>
              <a:spcAft>
                <a:spcPts val="0"/>
              </a:spcAft>
              <a:buClr>
                <a:srgbClr val="FFFFFF"/>
              </a:buClr>
              <a:buSzPts val="900"/>
              <a:buFont typeface="Poppins"/>
              <a:buChar char="●"/>
            </a:pPr>
            <a:r>
              <a:rPr b="1" lang="en" sz="900">
                <a:solidFill>
                  <a:srgbClr val="FFFFFF"/>
                </a:solidFill>
                <a:latin typeface="Poppins"/>
                <a:ea typeface="Poppins"/>
                <a:cs typeface="Poppins"/>
                <a:sym typeface="Poppins"/>
              </a:rPr>
              <a:t>Lessons</a:t>
            </a:r>
            <a:r>
              <a:rPr lang="en" sz="900">
                <a:solidFill>
                  <a:srgbClr val="FFFFFF"/>
                </a:solidFill>
                <a:latin typeface="Poppins"/>
                <a:ea typeface="Poppins"/>
                <a:cs typeface="Poppins"/>
                <a:sym typeface="Poppins"/>
              </a:rPr>
              <a:t>: Early legal mapping and partnerships with licensed financial institutions are critical.</a:t>
            </a:r>
            <a:endParaRPr sz="900">
              <a:solidFill>
                <a:srgbClr val="FFFFFF"/>
              </a:solidFill>
              <a:latin typeface="Poppins"/>
              <a:ea typeface="Poppins"/>
              <a:cs typeface="Poppins"/>
              <a:sym typeface="Poppins"/>
            </a:endParaRPr>
          </a:p>
        </p:txBody>
      </p:sp>
      <p:pic>
        <p:nvPicPr>
          <p:cNvPr id="246" name="Google Shape;246;p23" title="Element.png"/>
          <p:cNvPicPr preferRelativeResize="0"/>
          <p:nvPr/>
        </p:nvPicPr>
        <p:blipFill rotWithShape="1">
          <a:blip r:embed="rId3">
            <a:alphaModFix/>
          </a:blip>
          <a:srcRect b="0" l="33590" r="0" t="67210"/>
          <a:stretch/>
        </p:blipFill>
        <p:spPr>
          <a:xfrm>
            <a:off x="-1" y="0"/>
            <a:ext cx="1528126" cy="761549"/>
          </a:xfrm>
          <a:prstGeom prst="rect">
            <a:avLst/>
          </a:prstGeom>
          <a:noFill/>
          <a:ln>
            <a:noFill/>
          </a:ln>
        </p:spPr>
      </p:pic>
      <p:grpSp>
        <p:nvGrpSpPr>
          <p:cNvPr id="247" name="Google Shape;247;p23"/>
          <p:cNvGrpSpPr/>
          <p:nvPr/>
        </p:nvGrpSpPr>
        <p:grpSpPr>
          <a:xfrm>
            <a:off x="4749604" y="151277"/>
            <a:ext cx="4231939" cy="1102140"/>
            <a:chOff x="0" y="0"/>
            <a:chExt cx="9006042" cy="2344978"/>
          </a:xfrm>
        </p:grpSpPr>
        <p:sp>
          <p:nvSpPr>
            <p:cNvPr id="248" name="Google Shape;248;p23"/>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249" name="Google Shape;249;p23"/>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250" name="Google Shape;250;p23"/>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grpSp>
      <p:sp>
        <p:nvSpPr>
          <p:cNvPr id="251" name="Google Shape;251;p23"/>
          <p:cNvSpPr txBox="1"/>
          <p:nvPr/>
        </p:nvSpPr>
        <p:spPr>
          <a:xfrm>
            <a:off x="-576050" y="611125"/>
            <a:ext cx="4983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rgbClr val="FFFFFF"/>
                </a:solidFill>
                <a:latin typeface="Poppins ExtraBold"/>
                <a:ea typeface="Poppins ExtraBold"/>
                <a:cs typeface="Poppins ExtraBold"/>
                <a:sym typeface="Poppins ExtraBold"/>
              </a:rPr>
              <a:t>Case Studies </a:t>
            </a:r>
            <a:endParaRPr sz="2300">
              <a:solidFill>
                <a:srgbClr val="FFFFFF"/>
              </a:solidFill>
              <a:latin typeface="Poppins ExtraBold"/>
              <a:ea typeface="Poppins ExtraBold"/>
              <a:cs typeface="Poppins ExtraBold"/>
              <a:sym typeface="Poppins ExtraBold"/>
            </a:endParaRPr>
          </a:p>
          <a:p>
            <a:pPr indent="0" lvl="0" marL="0" rtl="0" algn="ctr">
              <a:spcBef>
                <a:spcPts val="0"/>
              </a:spcBef>
              <a:spcAft>
                <a:spcPts val="0"/>
              </a:spcAft>
              <a:buNone/>
            </a:pPr>
            <a:r>
              <a:t/>
            </a:r>
            <a:endParaRPr sz="2300">
              <a:solidFill>
                <a:srgbClr val="FFFFFF"/>
              </a:solidFill>
              <a:latin typeface="Poppins ExtraBold"/>
              <a:ea typeface="Poppins ExtraBold"/>
              <a:cs typeface="Poppins ExtraBold"/>
              <a:sym typeface="Poppins ExtraBold"/>
            </a:endParaRPr>
          </a:p>
        </p:txBody>
      </p:sp>
      <p:cxnSp>
        <p:nvCxnSpPr>
          <p:cNvPr id="252" name="Google Shape;252;p23"/>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253" name="Google Shape;253;p23"/>
          <p:cNvSpPr/>
          <p:nvPr/>
        </p:nvSpPr>
        <p:spPr>
          <a:xfrm>
            <a:off x="7091194" y="3870767"/>
            <a:ext cx="3801327" cy="2846244"/>
          </a:xfrm>
          <a:custGeom>
            <a:rect b="b" l="l" r="r" t="t"/>
            <a:pathLst>
              <a:path extrusionOk="0" h="2846244" w="3801327">
                <a:moveTo>
                  <a:pt x="0" y="0"/>
                </a:moveTo>
                <a:lnTo>
                  <a:pt x="3801328" y="0"/>
                </a:lnTo>
                <a:lnTo>
                  <a:pt x="3801328" y="2846244"/>
                </a:lnTo>
                <a:lnTo>
                  <a:pt x="0" y="2846244"/>
                </a:lnTo>
                <a:lnTo>
                  <a:pt x="0" y="0"/>
                </a:lnTo>
                <a:close/>
              </a:path>
            </a:pathLst>
          </a:custGeom>
          <a:blipFill rotWithShape="1">
            <a:blip r:embed="rId7">
              <a:alphaModFix/>
            </a:blip>
            <a:stretch>
              <a:fillRect b="0" l="0" r="0" t="0"/>
            </a:stretch>
          </a:blipFill>
          <a:ln>
            <a:noFill/>
          </a:ln>
        </p:spPr>
      </p:sp>
      <p:sp>
        <p:nvSpPr>
          <p:cNvPr id="254" name="Google Shape;254;p23"/>
          <p:cNvSpPr txBox="1"/>
          <p:nvPr/>
        </p:nvSpPr>
        <p:spPr>
          <a:xfrm>
            <a:off x="660650" y="1313400"/>
            <a:ext cx="6551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Poppins"/>
                <a:ea typeface="Poppins"/>
                <a:cs typeface="Poppins"/>
                <a:sym typeface="Poppins"/>
              </a:rPr>
              <a:t>Examining past blockchain deployments in development projects helps us understand legal, ethical, and operational challenges.</a:t>
            </a:r>
            <a:endParaRPr b="1" sz="1100">
              <a:solidFill>
                <a:schemeClr val="lt1"/>
              </a:solidFill>
              <a:latin typeface="Poppins"/>
              <a:ea typeface="Poppins"/>
              <a:cs typeface="Poppins"/>
              <a:sym typeface="Poppins"/>
            </a:endParaRPr>
          </a:p>
        </p:txBody>
      </p:sp>
      <p:sp>
        <p:nvSpPr>
          <p:cNvPr id="255" name="Google Shape;255;p23"/>
          <p:cNvSpPr/>
          <p:nvPr/>
        </p:nvSpPr>
        <p:spPr>
          <a:xfrm>
            <a:off x="550525" y="1949925"/>
            <a:ext cx="2815500" cy="306600"/>
          </a:xfrm>
          <a:prstGeom prst="rect">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Poppins"/>
                <a:ea typeface="Poppins"/>
                <a:cs typeface="Poppins"/>
                <a:sym typeface="Poppins"/>
              </a:rPr>
              <a:t>UNHCR &amp; Stellar:  Refugee Remittances</a:t>
            </a:r>
            <a:endParaRPr sz="900">
              <a:solidFill>
                <a:srgbClr val="FFFFFF"/>
              </a:solidFill>
              <a:latin typeface="Poppins"/>
              <a:ea typeface="Poppins"/>
              <a:cs typeface="Poppins"/>
              <a:sym typeface="Poppins"/>
            </a:endParaRPr>
          </a:p>
        </p:txBody>
      </p:sp>
      <p:sp>
        <p:nvSpPr>
          <p:cNvPr id="256" name="Google Shape;256;p23"/>
          <p:cNvSpPr/>
          <p:nvPr/>
        </p:nvSpPr>
        <p:spPr>
          <a:xfrm>
            <a:off x="626725" y="3567750"/>
            <a:ext cx="6619500" cy="949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114300" lvl="0" marL="28575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Private blockchain to distribute aid to refugees in Zaatari and Azraq camps.</a:t>
            </a:r>
            <a:endParaRPr sz="900">
              <a:solidFill>
                <a:srgbClr val="FFFFFF"/>
              </a:solidFill>
              <a:latin typeface="Poppins"/>
              <a:ea typeface="Poppins"/>
              <a:cs typeface="Poppins"/>
              <a:sym typeface="Poppins"/>
            </a:endParaRPr>
          </a:p>
          <a:p>
            <a:pPr indent="-114300" lvl="0" marL="285750" rtl="0" algn="l">
              <a:lnSpc>
                <a:spcPct val="115000"/>
              </a:lnSpc>
              <a:spcBef>
                <a:spcPts val="0"/>
              </a:spcBef>
              <a:spcAft>
                <a:spcPts val="0"/>
              </a:spcAft>
              <a:buClr>
                <a:srgbClr val="FFFFFF"/>
              </a:buClr>
              <a:buSzPts val="900"/>
              <a:buFont typeface="Poppins"/>
              <a:buChar char="●"/>
            </a:pPr>
            <a:r>
              <a:rPr b="1" lang="en" sz="900">
                <a:solidFill>
                  <a:srgbClr val="FFFFFF"/>
                </a:solidFill>
                <a:latin typeface="Poppins"/>
                <a:ea typeface="Poppins"/>
                <a:cs typeface="Poppins"/>
                <a:sym typeface="Poppins"/>
              </a:rPr>
              <a:t>Challenges</a:t>
            </a:r>
            <a:r>
              <a:rPr lang="en" sz="900">
                <a:solidFill>
                  <a:srgbClr val="FFFFFF"/>
                </a:solidFill>
                <a:latin typeface="Poppins"/>
                <a:ea typeface="Poppins"/>
                <a:cs typeface="Poppins"/>
                <a:sym typeface="Poppins"/>
              </a:rPr>
              <a:t>: Protecting sensitive personal data, integrating with local banking systems.</a:t>
            </a:r>
            <a:endParaRPr sz="900">
              <a:solidFill>
                <a:srgbClr val="FFFFFF"/>
              </a:solidFill>
              <a:latin typeface="Poppins"/>
              <a:ea typeface="Poppins"/>
              <a:cs typeface="Poppins"/>
              <a:sym typeface="Poppins"/>
            </a:endParaRPr>
          </a:p>
          <a:p>
            <a:pPr indent="-114300" lvl="0" marL="285750" rtl="0" algn="l">
              <a:lnSpc>
                <a:spcPct val="115000"/>
              </a:lnSpc>
              <a:spcBef>
                <a:spcPts val="0"/>
              </a:spcBef>
              <a:spcAft>
                <a:spcPts val="0"/>
              </a:spcAft>
              <a:buClr>
                <a:srgbClr val="FFFFFF"/>
              </a:buClr>
              <a:buSzPts val="900"/>
              <a:buFont typeface="Poppins"/>
              <a:buChar char="●"/>
            </a:pPr>
            <a:r>
              <a:rPr b="1" lang="en" sz="900">
                <a:solidFill>
                  <a:srgbClr val="FFFFFF"/>
                </a:solidFill>
                <a:latin typeface="Poppins"/>
                <a:ea typeface="Poppins"/>
                <a:cs typeface="Poppins"/>
                <a:sym typeface="Poppins"/>
              </a:rPr>
              <a:t>Lessons</a:t>
            </a:r>
            <a:r>
              <a:rPr lang="en" sz="900">
                <a:solidFill>
                  <a:srgbClr val="FFFFFF"/>
                </a:solidFill>
                <a:latin typeface="Poppins"/>
                <a:ea typeface="Poppins"/>
                <a:cs typeface="Poppins"/>
                <a:sym typeface="Poppins"/>
              </a:rPr>
              <a:t>: Permissioned blockchains can balance transparency and privacy.</a:t>
            </a:r>
            <a:endParaRPr sz="900">
              <a:solidFill>
                <a:srgbClr val="FFFFFF"/>
              </a:solidFill>
              <a:latin typeface="Poppins"/>
              <a:ea typeface="Poppins"/>
              <a:cs typeface="Poppins"/>
              <a:sym typeface="Poppins"/>
            </a:endParaRPr>
          </a:p>
        </p:txBody>
      </p:sp>
      <p:sp>
        <p:nvSpPr>
          <p:cNvPr id="257" name="Google Shape;257;p23"/>
          <p:cNvSpPr/>
          <p:nvPr/>
        </p:nvSpPr>
        <p:spPr>
          <a:xfrm>
            <a:off x="702925" y="3321525"/>
            <a:ext cx="2815500" cy="306600"/>
          </a:xfrm>
          <a:prstGeom prst="rect">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Poppins"/>
                <a:ea typeface="Poppins"/>
                <a:cs typeface="Poppins"/>
                <a:sym typeface="Poppins"/>
              </a:rPr>
              <a:t>WFP Building Blocks – Cash Transfers in Jordan</a:t>
            </a:r>
            <a:endParaRPr sz="900">
              <a:solidFill>
                <a:srgbClr val="FFFF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698631" scaled="0"/>
        </a:gradFill>
      </p:bgPr>
    </p:bg>
    <p:spTree>
      <p:nvGrpSpPr>
        <p:cNvPr id="261" name="Shape 261"/>
        <p:cNvGrpSpPr/>
        <p:nvPr/>
      </p:nvGrpSpPr>
      <p:grpSpPr>
        <a:xfrm>
          <a:off x="0" y="0"/>
          <a:ext cx="0" cy="0"/>
          <a:chOff x="0" y="0"/>
          <a:chExt cx="0" cy="0"/>
        </a:xfrm>
      </p:grpSpPr>
      <p:grpSp>
        <p:nvGrpSpPr>
          <p:cNvPr id="262" name="Google Shape;262;p24"/>
          <p:cNvGrpSpPr/>
          <p:nvPr/>
        </p:nvGrpSpPr>
        <p:grpSpPr>
          <a:xfrm>
            <a:off x="6304329" y="281213"/>
            <a:ext cx="2782864" cy="1102154"/>
            <a:chOff x="2574963" y="-30"/>
            <a:chExt cx="5922248" cy="2345008"/>
          </a:xfrm>
        </p:grpSpPr>
        <p:sp>
          <p:nvSpPr>
            <p:cNvPr id="263" name="Google Shape;263;p24"/>
            <p:cNvSpPr/>
            <p:nvPr/>
          </p:nvSpPr>
          <p:spPr>
            <a:xfrm>
              <a:off x="5049022" y="-30"/>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3">
                <a:alphaModFix/>
              </a:blip>
              <a:stretch>
                <a:fillRect b="0" l="0" r="0" t="0"/>
              </a:stretch>
            </a:blipFill>
            <a:ln>
              <a:noFill/>
            </a:ln>
          </p:spPr>
        </p:sp>
        <p:sp>
          <p:nvSpPr>
            <p:cNvPr id="264" name="Google Shape;264;p24"/>
            <p:cNvSpPr/>
            <p:nvPr/>
          </p:nvSpPr>
          <p:spPr>
            <a:xfrm>
              <a:off x="2574963"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4">
                <a:alphaModFix/>
              </a:blip>
              <a:stretch>
                <a:fillRect b="0" l="-20549" r="-20539" t="0"/>
              </a:stretch>
            </a:blipFill>
            <a:ln>
              <a:noFill/>
            </a:ln>
          </p:spPr>
        </p:sp>
        <p:sp>
          <p:nvSpPr>
            <p:cNvPr id="265" name="Google Shape;265;p24"/>
            <p:cNvSpPr/>
            <p:nvPr/>
          </p:nvSpPr>
          <p:spPr>
            <a:xfrm>
              <a:off x="5420513" y="1333944"/>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5">
                <a:alphaModFix/>
              </a:blip>
              <a:stretch>
                <a:fillRect b="0" l="0" r="0" t="0"/>
              </a:stretch>
            </a:blipFill>
            <a:ln>
              <a:noFill/>
            </a:ln>
          </p:spPr>
        </p:sp>
      </p:grpSp>
      <p:pic>
        <p:nvPicPr>
          <p:cNvPr id="266" name="Google Shape;266;p24" title="Element.png"/>
          <p:cNvPicPr preferRelativeResize="0"/>
          <p:nvPr/>
        </p:nvPicPr>
        <p:blipFill rotWithShape="1">
          <a:blip r:embed="rId6">
            <a:alphaModFix/>
          </a:blip>
          <a:srcRect b="0" l="33590" r="0" t="67210"/>
          <a:stretch/>
        </p:blipFill>
        <p:spPr>
          <a:xfrm>
            <a:off x="-1" y="0"/>
            <a:ext cx="1528126" cy="761549"/>
          </a:xfrm>
          <a:prstGeom prst="rect">
            <a:avLst/>
          </a:prstGeom>
          <a:noFill/>
          <a:ln>
            <a:noFill/>
          </a:ln>
        </p:spPr>
      </p:pic>
      <p:sp>
        <p:nvSpPr>
          <p:cNvPr id="267" name="Google Shape;267;p24"/>
          <p:cNvSpPr txBox="1"/>
          <p:nvPr/>
        </p:nvSpPr>
        <p:spPr>
          <a:xfrm>
            <a:off x="-383275" y="505275"/>
            <a:ext cx="4581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chemeClr val="lt1"/>
                </a:solidFill>
                <a:latin typeface="Poppins ExtraBold"/>
                <a:ea typeface="Poppins ExtraBold"/>
                <a:cs typeface="Poppins ExtraBold"/>
                <a:sym typeface="Poppins ExtraBold"/>
              </a:rPr>
              <a:t>Best Practices </a:t>
            </a:r>
            <a:endParaRPr sz="1900">
              <a:solidFill>
                <a:srgbClr val="FFFFFF"/>
              </a:solidFill>
              <a:latin typeface="Poppins ExtraBold"/>
              <a:ea typeface="Poppins ExtraBold"/>
              <a:cs typeface="Poppins ExtraBold"/>
              <a:sym typeface="Poppins ExtraBold"/>
            </a:endParaRPr>
          </a:p>
        </p:txBody>
      </p:sp>
      <p:cxnSp>
        <p:nvCxnSpPr>
          <p:cNvPr id="268" name="Google Shape;268;p24"/>
          <p:cNvCxnSpPr/>
          <p:nvPr/>
        </p:nvCxnSpPr>
        <p:spPr>
          <a:xfrm flipH="1" rot="10800000">
            <a:off x="711600" y="1166413"/>
            <a:ext cx="3058500" cy="900"/>
          </a:xfrm>
          <a:prstGeom prst="straightConnector1">
            <a:avLst/>
          </a:prstGeom>
          <a:noFill/>
          <a:ln cap="flat" cmpd="sng" w="19050">
            <a:solidFill>
              <a:srgbClr val="FBC410"/>
            </a:solidFill>
            <a:prstDash val="solid"/>
            <a:round/>
            <a:headEnd len="med" w="med" type="none"/>
            <a:tailEnd len="med" w="med" type="none"/>
          </a:ln>
        </p:spPr>
      </p:cxnSp>
      <p:sp>
        <p:nvSpPr>
          <p:cNvPr id="269" name="Google Shape;269;p24"/>
          <p:cNvSpPr/>
          <p:nvPr/>
        </p:nvSpPr>
        <p:spPr>
          <a:xfrm>
            <a:off x="1069200" y="2455550"/>
            <a:ext cx="2087100" cy="350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Regulatory Mapping</a:t>
            </a:r>
            <a:endParaRPr b="1" sz="900">
              <a:solidFill>
                <a:srgbClr val="FFFFFF"/>
              </a:solidFill>
              <a:latin typeface="Poppins"/>
              <a:ea typeface="Poppins"/>
              <a:cs typeface="Poppins"/>
              <a:sym typeface="Poppins"/>
            </a:endParaRPr>
          </a:p>
        </p:txBody>
      </p:sp>
      <p:sp>
        <p:nvSpPr>
          <p:cNvPr id="270" name="Google Shape;270;p24"/>
          <p:cNvSpPr/>
          <p:nvPr/>
        </p:nvSpPr>
        <p:spPr>
          <a:xfrm>
            <a:off x="916800" y="2912750"/>
            <a:ext cx="2087100" cy="350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Engage Local Authorities</a:t>
            </a:r>
            <a:endParaRPr b="1" sz="900">
              <a:solidFill>
                <a:srgbClr val="FFFFFF"/>
              </a:solidFill>
              <a:latin typeface="Poppins"/>
              <a:ea typeface="Poppins"/>
              <a:cs typeface="Poppins"/>
              <a:sym typeface="Poppins"/>
            </a:endParaRPr>
          </a:p>
        </p:txBody>
      </p:sp>
      <p:sp>
        <p:nvSpPr>
          <p:cNvPr id="271" name="Google Shape;271;p24"/>
          <p:cNvSpPr/>
          <p:nvPr/>
        </p:nvSpPr>
        <p:spPr>
          <a:xfrm>
            <a:off x="764400" y="3369950"/>
            <a:ext cx="2087100" cy="350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Define Data Governance</a:t>
            </a:r>
            <a:endParaRPr b="1" sz="900">
              <a:solidFill>
                <a:srgbClr val="FFFFFF"/>
              </a:solidFill>
              <a:latin typeface="Poppins"/>
              <a:ea typeface="Poppins"/>
              <a:cs typeface="Poppins"/>
              <a:sym typeface="Poppins"/>
            </a:endParaRPr>
          </a:p>
        </p:txBody>
      </p:sp>
      <p:sp>
        <p:nvSpPr>
          <p:cNvPr id="272" name="Google Shape;272;p24"/>
          <p:cNvSpPr/>
          <p:nvPr/>
        </p:nvSpPr>
        <p:spPr>
          <a:xfrm>
            <a:off x="612000" y="3827150"/>
            <a:ext cx="2087100" cy="350100"/>
          </a:xfrm>
          <a:prstGeom prst="parallelogram">
            <a:avLst>
              <a:gd fmla="val 25000" name="adj"/>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Hybrid Models: on-chain &amp; Off</a:t>
            </a:r>
            <a:endParaRPr b="1" sz="900">
              <a:solidFill>
                <a:srgbClr val="FFFFFF"/>
              </a:solidFill>
              <a:latin typeface="Poppins"/>
              <a:ea typeface="Poppins"/>
              <a:cs typeface="Poppins"/>
              <a:sym typeface="Poppins"/>
            </a:endParaRPr>
          </a:p>
        </p:txBody>
      </p:sp>
      <p:sp>
        <p:nvSpPr>
          <p:cNvPr id="273" name="Google Shape;273;p24"/>
          <p:cNvSpPr/>
          <p:nvPr/>
        </p:nvSpPr>
        <p:spPr>
          <a:xfrm>
            <a:off x="4193400" y="2455550"/>
            <a:ext cx="2087100" cy="350100"/>
          </a:xfrm>
          <a:prstGeom prst="parallelogram">
            <a:avLst>
              <a:gd fmla="val 25000" name="adj"/>
            </a:avLst>
          </a:prstGeom>
          <a:solidFill>
            <a:srgbClr val="FBC41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Legal Documentation</a:t>
            </a:r>
            <a:endParaRPr b="1" sz="900">
              <a:solidFill>
                <a:srgbClr val="FFFFFF"/>
              </a:solidFill>
              <a:latin typeface="Poppins"/>
              <a:ea typeface="Poppins"/>
              <a:cs typeface="Poppins"/>
              <a:sym typeface="Poppins"/>
            </a:endParaRPr>
          </a:p>
        </p:txBody>
      </p:sp>
      <p:sp>
        <p:nvSpPr>
          <p:cNvPr id="274" name="Google Shape;274;p24"/>
          <p:cNvSpPr/>
          <p:nvPr/>
        </p:nvSpPr>
        <p:spPr>
          <a:xfrm>
            <a:off x="4068325" y="2912750"/>
            <a:ext cx="2087100" cy="350100"/>
          </a:xfrm>
          <a:prstGeom prst="parallelogram">
            <a:avLst>
              <a:gd fmla="val 25000" name="adj"/>
            </a:avLst>
          </a:prstGeom>
          <a:solidFill>
            <a:srgbClr val="FBC41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Ethical Guidelines</a:t>
            </a:r>
            <a:endParaRPr b="1" sz="900">
              <a:solidFill>
                <a:srgbClr val="FFFFFF"/>
              </a:solidFill>
              <a:latin typeface="Poppins"/>
              <a:ea typeface="Poppins"/>
              <a:cs typeface="Poppins"/>
              <a:sym typeface="Poppins"/>
            </a:endParaRPr>
          </a:p>
        </p:txBody>
      </p:sp>
      <p:sp>
        <p:nvSpPr>
          <p:cNvPr id="275" name="Google Shape;275;p24"/>
          <p:cNvSpPr/>
          <p:nvPr/>
        </p:nvSpPr>
        <p:spPr>
          <a:xfrm>
            <a:off x="3964800" y="3369950"/>
            <a:ext cx="2087100" cy="350100"/>
          </a:xfrm>
          <a:prstGeom prst="parallelogram">
            <a:avLst>
              <a:gd fmla="val 25000" name="adj"/>
            </a:avLst>
          </a:prstGeom>
          <a:solidFill>
            <a:srgbClr val="FBC41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Human Oversight</a:t>
            </a:r>
            <a:endParaRPr b="1" sz="900">
              <a:solidFill>
                <a:srgbClr val="FFFFFF"/>
              </a:solidFill>
              <a:latin typeface="Poppins"/>
              <a:ea typeface="Poppins"/>
              <a:cs typeface="Poppins"/>
              <a:sym typeface="Poppins"/>
            </a:endParaRPr>
          </a:p>
        </p:txBody>
      </p:sp>
      <p:sp>
        <p:nvSpPr>
          <p:cNvPr id="276" name="Google Shape;276;p24"/>
          <p:cNvSpPr/>
          <p:nvPr/>
        </p:nvSpPr>
        <p:spPr>
          <a:xfrm>
            <a:off x="3812400" y="3827150"/>
            <a:ext cx="2087100" cy="350100"/>
          </a:xfrm>
          <a:prstGeom prst="parallelogram">
            <a:avLst>
              <a:gd fmla="val 25000" name="adj"/>
            </a:avLst>
          </a:prstGeom>
          <a:solidFill>
            <a:srgbClr val="FBC41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latin typeface="Poppins"/>
                <a:ea typeface="Poppins"/>
                <a:cs typeface="Poppins"/>
                <a:sym typeface="Poppins"/>
              </a:rPr>
              <a:t>Contingency Planning</a:t>
            </a:r>
            <a:endParaRPr b="1" sz="900">
              <a:solidFill>
                <a:srgbClr val="FFFFFF"/>
              </a:solidFill>
              <a:latin typeface="Poppins"/>
              <a:ea typeface="Poppins"/>
              <a:cs typeface="Poppins"/>
              <a:sym typeface="Poppins"/>
            </a:endParaRPr>
          </a:p>
        </p:txBody>
      </p:sp>
      <p:sp>
        <p:nvSpPr>
          <p:cNvPr id="277" name="Google Shape;277;p24"/>
          <p:cNvSpPr/>
          <p:nvPr/>
        </p:nvSpPr>
        <p:spPr>
          <a:xfrm>
            <a:off x="474325" y="1586550"/>
            <a:ext cx="6087600" cy="5991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114300" lvl="0" marL="285750" rtl="0" algn="l">
              <a:lnSpc>
                <a:spcPct val="115000"/>
              </a:lnSpc>
              <a:spcBef>
                <a:spcPts val="0"/>
              </a:spcBef>
              <a:spcAft>
                <a:spcPts val="0"/>
              </a:spcAft>
              <a:buClr>
                <a:srgbClr val="FFFFFF"/>
              </a:buClr>
              <a:buSzPts val="900"/>
              <a:buFont typeface="Poppins"/>
              <a:buChar char="●"/>
            </a:pPr>
            <a:r>
              <a:rPr lang="en" sz="900">
                <a:solidFill>
                  <a:srgbClr val="FFFFFF"/>
                </a:solidFill>
                <a:latin typeface="Poppins"/>
                <a:ea typeface="Poppins"/>
                <a:cs typeface="Poppins"/>
                <a:sym typeface="Poppins"/>
              </a:rPr>
              <a:t>To reduce legal, ethical, and operational risks, development projects should adopt structured practices from the start.</a:t>
            </a:r>
            <a:endParaRPr sz="900">
              <a:solidFill>
                <a:srgbClr val="FFFFFF"/>
              </a:solidFill>
              <a:latin typeface="Poppins"/>
              <a:ea typeface="Poppins"/>
              <a:cs typeface="Poppins"/>
              <a:sym typeface="Poppins"/>
            </a:endParaRPr>
          </a:p>
        </p:txBody>
      </p:sp>
      <p:sp>
        <p:nvSpPr>
          <p:cNvPr id="278" name="Google Shape;278;p24"/>
          <p:cNvSpPr/>
          <p:nvPr/>
        </p:nvSpPr>
        <p:spPr>
          <a:xfrm>
            <a:off x="550525" y="1340325"/>
            <a:ext cx="2815500" cy="306600"/>
          </a:xfrm>
          <a:prstGeom prst="rect">
            <a:avLst/>
          </a:prstGeom>
          <a:solidFill>
            <a:srgbClr val="E71F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Poppins"/>
                <a:ea typeface="Poppins"/>
                <a:cs typeface="Poppins"/>
                <a:sym typeface="Poppins"/>
              </a:rPr>
              <a:t>Building Blockchain Projects Responsibly</a:t>
            </a:r>
            <a:endParaRPr sz="900">
              <a:solidFill>
                <a:srgbClr val="FFFFFF"/>
              </a:solidFill>
              <a:latin typeface="Poppins"/>
              <a:ea typeface="Poppins"/>
              <a:cs typeface="Poppins"/>
              <a:sym typeface="Poppins"/>
            </a:endParaRPr>
          </a:p>
        </p:txBody>
      </p:sp>
      <p:pic>
        <p:nvPicPr>
          <p:cNvPr id="279" name="Google Shape;279;p24" title="images (2).png"/>
          <p:cNvPicPr preferRelativeResize="0"/>
          <p:nvPr/>
        </p:nvPicPr>
        <p:blipFill rotWithShape="1">
          <a:blip r:embed="rId7">
            <a:alphaModFix/>
          </a:blip>
          <a:srcRect b="-2697" l="3084" r="29850" t="-2687"/>
          <a:stretch/>
        </p:blipFill>
        <p:spPr>
          <a:xfrm>
            <a:off x="846225" y="2424650"/>
            <a:ext cx="377100" cy="381000"/>
          </a:xfrm>
          <a:prstGeom prst="ellipse">
            <a:avLst/>
          </a:prstGeom>
          <a:noFill/>
          <a:ln>
            <a:noFill/>
          </a:ln>
        </p:spPr>
      </p:pic>
      <p:pic>
        <p:nvPicPr>
          <p:cNvPr id="280" name="Google Shape;280;p24" title="images (2).png"/>
          <p:cNvPicPr preferRelativeResize="0"/>
          <p:nvPr/>
        </p:nvPicPr>
        <p:blipFill rotWithShape="1">
          <a:blip r:embed="rId7">
            <a:alphaModFix/>
          </a:blip>
          <a:srcRect b="-2697" l="3084" r="29850" t="-2687"/>
          <a:stretch/>
        </p:blipFill>
        <p:spPr>
          <a:xfrm>
            <a:off x="693825" y="2881850"/>
            <a:ext cx="377100" cy="381000"/>
          </a:xfrm>
          <a:prstGeom prst="ellipse">
            <a:avLst/>
          </a:prstGeom>
          <a:noFill/>
          <a:ln>
            <a:noFill/>
          </a:ln>
        </p:spPr>
      </p:pic>
      <p:pic>
        <p:nvPicPr>
          <p:cNvPr id="281" name="Google Shape;281;p24" title="images (2).png"/>
          <p:cNvPicPr preferRelativeResize="0"/>
          <p:nvPr/>
        </p:nvPicPr>
        <p:blipFill rotWithShape="1">
          <a:blip r:embed="rId7">
            <a:alphaModFix/>
          </a:blip>
          <a:srcRect b="-2697" l="3084" r="29850" t="-2687"/>
          <a:stretch/>
        </p:blipFill>
        <p:spPr>
          <a:xfrm>
            <a:off x="617625" y="3339050"/>
            <a:ext cx="377100" cy="381000"/>
          </a:xfrm>
          <a:prstGeom prst="ellipse">
            <a:avLst/>
          </a:prstGeom>
          <a:noFill/>
          <a:ln>
            <a:noFill/>
          </a:ln>
        </p:spPr>
      </p:pic>
      <p:pic>
        <p:nvPicPr>
          <p:cNvPr id="282" name="Google Shape;282;p24" title="images (2).png"/>
          <p:cNvPicPr preferRelativeResize="0"/>
          <p:nvPr/>
        </p:nvPicPr>
        <p:blipFill rotWithShape="1">
          <a:blip r:embed="rId7">
            <a:alphaModFix/>
          </a:blip>
          <a:srcRect b="-2697" l="3084" r="29850" t="-2687"/>
          <a:stretch/>
        </p:blipFill>
        <p:spPr>
          <a:xfrm>
            <a:off x="465225" y="3796250"/>
            <a:ext cx="377100" cy="381000"/>
          </a:xfrm>
          <a:prstGeom prst="ellipse">
            <a:avLst/>
          </a:prstGeom>
          <a:noFill/>
          <a:ln>
            <a:noFill/>
          </a:ln>
        </p:spPr>
      </p:pic>
      <p:pic>
        <p:nvPicPr>
          <p:cNvPr id="283" name="Google Shape;283;p24" title="images (2).png"/>
          <p:cNvPicPr preferRelativeResize="0"/>
          <p:nvPr/>
        </p:nvPicPr>
        <p:blipFill rotWithShape="1">
          <a:blip r:embed="rId7">
            <a:alphaModFix/>
          </a:blip>
          <a:srcRect b="-2697" l="3084" r="29850" t="-2687"/>
          <a:stretch/>
        </p:blipFill>
        <p:spPr>
          <a:xfrm>
            <a:off x="4046625" y="2424650"/>
            <a:ext cx="377100" cy="381000"/>
          </a:xfrm>
          <a:prstGeom prst="ellipse">
            <a:avLst/>
          </a:prstGeom>
          <a:noFill/>
          <a:ln>
            <a:noFill/>
          </a:ln>
        </p:spPr>
      </p:pic>
      <p:pic>
        <p:nvPicPr>
          <p:cNvPr id="284" name="Google Shape;284;p24" title="images (2).png"/>
          <p:cNvPicPr preferRelativeResize="0"/>
          <p:nvPr/>
        </p:nvPicPr>
        <p:blipFill rotWithShape="1">
          <a:blip r:embed="rId7">
            <a:alphaModFix/>
          </a:blip>
          <a:srcRect b="-2697" l="3084" r="29850" t="-2687"/>
          <a:stretch/>
        </p:blipFill>
        <p:spPr>
          <a:xfrm>
            <a:off x="3970425" y="2881850"/>
            <a:ext cx="377100" cy="381000"/>
          </a:xfrm>
          <a:prstGeom prst="ellipse">
            <a:avLst/>
          </a:prstGeom>
          <a:noFill/>
          <a:ln>
            <a:noFill/>
          </a:ln>
        </p:spPr>
      </p:pic>
      <p:pic>
        <p:nvPicPr>
          <p:cNvPr id="285" name="Google Shape;285;p24" title="images (2).png"/>
          <p:cNvPicPr preferRelativeResize="0"/>
          <p:nvPr/>
        </p:nvPicPr>
        <p:blipFill rotWithShape="1">
          <a:blip r:embed="rId7">
            <a:alphaModFix/>
          </a:blip>
          <a:srcRect b="-2697" l="3084" r="29850" t="-2687"/>
          <a:stretch/>
        </p:blipFill>
        <p:spPr>
          <a:xfrm>
            <a:off x="3818025" y="3339050"/>
            <a:ext cx="377100" cy="381000"/>
          </a:xfrm>
          <a:prstGeom prst="ellipse">
            <a:avLst/>
          </a:prstGeom>
          <a:noFill/>
          <a:ln>
            <a:noFill/>
          </a:ln>
        </p:spPr>
      </p:pic>
      <p:pic>
        <p:nvPicPr>
          <p:cNvPr id="286" name="Google Shape;286;p24" title="images (2).png"/>
          <p:cNvPicPr preferRelativeResize="0"/>
          <p:nvPr/>
        </p:nvPicPr>
        <p:blipFill rotWithShape="1">
          <a:blip r:embed="rId7">
            <a:alphaModFix/>
          </a:blip>
          <a:srcRect b="-2697" l="3084" r="29850" t="-2687"/>
          <a:stretch/>
        </p:blipFill>
        <p:spPr>
          <a:xfrm>
            <a:off x="3665625" y="3796250"/>
            <a:ext cx="377100" cy="381000"/>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700006" scaled="0"/>
        </a:gradFill>
      </p:bgPr>
    </p:bg>
    <p:spTree>
      <p:nvGrpSpPr>
        <p:cNvPr id="290" name="Shape 290"/>
        <p:cNvGrpSpPr/>
        <p:nvPr/>
      </p:nvGrpSpPr>
      <p:grpSpPr>
        <a:xfrm>
          <a:off x="0" y="0"/>
          <a:ext cx="0" cy="0"/>
          <a:chOff x="0" y="0"/>
          <a:chExt cx="0" cy="0"/>
        </a:xfrm>
      </p:grpSpPr>
      <p:pic>
        <p:nvPicPr>
          <p:cNvPr id="291" name="Google Shape;291;p25" title="Element.png"/>
          <p:cNvPicPr preferRelativeResize="0"/>
          <p:nvPr/>
        </p:nvPicPr>
        <p:blipFill rotWithShape="1">
          <a:blip r:embed="rId3">
            <a:alphaModFix/>
          </a:blip>
          <a:srcRect b="0" l="0" r="42485" t="28987"/>
          <a:stretch/>
        </p:blipFill>
        <p:spPr>
          <a:xfrm>
            <a:off x="7820575" y="0"/>
            <a:ext cx="1323425" cy="1649326"/>
          </a:xfrm>
          <a:prstGeom prst="rect">
            <a:avLst/>
          </a:prstGeom>
          <a:noFill/>
          <a:ln>
            <a:noFill/>
          </a:ln>
        </p:spPr>
      </p:pic>
      <p:sp>
        <p:nvSpPr>
          <p:cNvPr id="292" name="Google Shape;292;p25"/>
          <p:cNvSpPr txBox="1"/>
          <p:nvPr/>
        </p:nvSpPr>
        <p:spPr>
          <a:xfrm>
            <a:off x="1181250" y="209150"/>
            <a:ext cx="6497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900">
                <a:solidFill>
                  <a:srgbClr val="FFFFFF"/>
                </a:solidFill>
                <a:latin typeface="Poppins ExtraBold"/>
                <a:ea typeface="Poppins ExtraBold"/>
                <a:cs typeface="Poppins ExtraBold"/>
                <a:sym typeface="Poppins ExtraBold"/>
              </a:rPr>
              <a:t>Key </a:t>
            </a:r>
            <a:r>
              <a:rPr lang="en" sz="2900">
                <a:solidFill>
                  <a:srgbClr val="FFFFFF"/>
                </a:solidFill>
                <a:latin typeface="Poppins ExtraBold"/>
                <a:ea typeface="Poppins ExtraBold"/>
                <a:cs typeface="Poppins ExtraBold"/>
                <a:sym typeface="Poppins ExtraBold"/>
              </a:rPr>
              <a:t>Takeaway</a:t>
            </a:r>
            <a:endParaRPr sz="2900">
              <a:solidFill>
                <a:srgbClr val="FFFFFF"/>
              </a:solidFill>
              <a:latin typeface="Poppins ExtraBold"/>
              <a:ea typeface="Poppins ExtraBold"/>
              <a:cs typeface="Poppins ExtraBold"/>
              <a:sym typeface="Poppins ExtraBold"/>
            </a:endParaRPr>
          </a:p>
        </p:txBody>
      </p:sp>
      <p:cxnSp>
        <p:nvCxnSpPr>
          <p:cNvPr id="293" name="Google Shape;293;p25"/>
          <p:cNvCxnSpPr/>
          <p:nvPr/>
        </p:nvCxnSpPr>
        <p:spPr>
          <a:xfrm>
            <a:off x="1911025" y="944475"/>
            <a:ext cx="5604600" cy="0"/>
          </a:xfrm>
          <a:prstGeom prst="straightConnector1">
            <a:avLst/>
          </a:prstGeom>
          <a:noFill/>
          <a:ln cap="flat" cmpd="sng" w="19050">
            <a:solidFill>
              <a:srgbClr val="FBC410"/>
            </a:solidFill>
            <a:prstDash val="solid"/>
            <a:round/>
            <a:headEnd len="med" w="med" type="none"/>
            <a:tailEnd len="med" w="med" type="none"/>
          </a:ln>
        </p:spPr>
      </p:cxnSp>
      <p:sp>
        <p:nvSpPr>
          <p:cNvPr id="294" name="Google Shape;294;p25"/>
          <p:cNvSpPr/>
          <p:nvPr/>
        </p:nvSpPr>
        <p:spPr>
          <a:xfrm rot="1992165">
            <a:off x="-1579015" y="3915825"/>
            <a:ext cx="3194968" cy="1751907"/>
          </a:xfrm>
          <a:custGeom>
            <a:rect b="b" l="l" r="r" t="t"/>
            <a:pathLst>
              <a:path extrusionOk="0" h="3069921" w="5598641">
                <a:moveTo>
                  <a:pt x="0" y="0"/>
                </a:moveTo>
                <a:lnTo>
                  <a:pt x="5598640" y="0"/>
                </a:lnTo>
                <a:lnTo>
                  <a:pt x="5598640" y="3069921"/>
                </a:lnTo>
                <a:lnTo>
                  <a:pt x="0" y="3069921"/>
                </a:lnTo>
                <a:lnTo>
                  <a:pt x="0" y="0"/>
                </a:lnTo>
                <a:close/>
              </a:path>
            </a:pathLst>
          </a:custGeom>
          <a:blipFill rotWithShape="1">
            <a:blip r:embed="rId4">
              <a:alphaModFix/>
            </a:blip>
            <a:stretch>
              <a:fillRect b="0" l="0" r="0" t="0"/>
            </a:stretch>
          </a:blipFill>
          <a:ln>
            <a:noFill/>
          </a:ln>
        </p:spPr>
      </p:sp>
      <p:sp>
        <p:nvSpPr>
          <p:cNvPr id="295" name="Google Shape;295;p25"/>
          <p:cNvSpPr/>
          <p:nvPr/>
        </p:nvSpPr>
        <p:spPr>
          <a:xfrm>
            <a:off x="1657925" y="3450850"/>
            <a:ext cx="6368400" cy="973800"/>
          </a:xfrm>
          <a:prstGeom prst="rect">
            <a:avLst/>
          </a:prstGeom>
          <a:solidFill>
            <a:srgbClr val="26BDE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1200">
                <a:solidFill>
                  <a:schemeClr val="lt1"/>
                </a:solidFill>
                <a:latin typeface="Poppins"/>
                <a:ea typeface="Poppins"/>
                <a:cs typeface="Poppins"/>
                <a:sym typeface="Poppins"/>
              </a:rPr>
              <a:t>A blockchain project can revolutionize aid delivery, carbon tracking or other SDG focused activities, but only if legal, ethical, and operational challenges are addressed from day one. Responsible design ensures technology serves people, not the other way around.</a:t>
            </a:r>
            <a:endParaRPr i="1" sz="1000">
              <a:solidFill>
                <a:schemeClr val="lt1"/>
              </a:solidFill>
              <a:latin typeface="Poppins"/>
              <a:ea typeface="Poppins"/>
              <a:cs typeface="Poppins"/>
              <a:sym typeface="Poppins"/>
            </a:endParaRPr>
          </a:p>
        </p:txBody>
      </p:sp>
      <p:sp>
        <p:nvSpPr>
          <p:cNvPr id="296" name="Google Shape;296;p25"/>
          <p:cNvSpPr/>
          <p:nvPr/>
        </p:nvSpPr>
        <p:spPr>
          <a:xfrm>
            <a:off x="1589200" y="1609602"/>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840">
                <a:solidFill>
                  <a:schemeClr val="lt1"/>
                </a:solidFill>
              </a:rPr>
              <a:t>Legal Landscape is Complex</a:t>
            </a:r>
            <a:endParaRPr b="1" i="1" sz="840">
              <a:solidFill>
                <a:schemeClr val="lt1"/>
              </a:solidFill>
            </a:endParaRPr>
          </a:p>
        </p:txBody>
      </p:sp>
      <p:sp>
        <p:nvSpPr>
          <p:cNvPr id="297" name="Google Shape;297;p25"/>
          <p:cNvSpPr/>
          <p:nvPr/>
        </p:nvSpPr>
        <p:spPr>
          <a:xfrm>
            <a:off x="4312225" y="1931127"/>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940">
                <a:solidFill>
                  <a:schemeClr val="lt1"/>
                </a:solidFill>
              </a:rPr>
              <a:t>Data Protection is Critical</a:t>
            </a:r>
            <a:endParaRPr b="1" i="1" sz="940">
              <a:solidFill>
                <a:schemeClr val="lt1"/>
              </a:solidFill>
            </a:endParaRPr>
          </a:p>
        </p:txBody>
      </p:sp>
      <p:sp>
        <p:nvSpPr>
          <p:cNvPr id="298" name="Google Shape;298;p25"/>
          <p:cNvSpPr/>
          <p:nvPr/>
        </p:nvSpPr>
        <p:spPr>
          <a:xfrm>
            <a:off x="2498250" y="2209727"/>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940">
                <a:solidFill>
                  <a:schemeClr val="lt1"/>
                </a:solidFill>
              </a:rPr>
              <a:t>Liability Must Be Clear</a:t>
            </a:r>
            <a:endParaRPr b="1" i="1" sz="940">
              <a:solidFill>
                <a:schemeClr val="lt1"/>
              </a:solidFill>
            </a:endParaRPr>
          </a:p>
        </p:txBody>
      </p:sp>
      <p:sp>
        <p:nvSpPr>
          <p:cNvPr id="299" name="Google Shape;299;p25"/>
          <p:cNvSpPr/>
          <p:nvPr/>
        </p:nvSpPr>
        <p:spPr>
          <a:xfrm>
            <a:off x="5302825" y="1469377"/>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940">
                <a:solidFill>
                  <a:schemeClr val="lt1"/>
                </a:solidFill>
              </a:rPr>
              <a:t>Smart Contracts Are Not a Silver Bullet</a:t>
            </a:r>
            <a:endParaRPr b="1" i="1" sz="940">
              <a:solidFill>
                <a:schemeClr val="lt1"/>
              </a:solidFill>
            </a:endParaRPr>
          </a:p>
        </p:txBody>
      </p:sp>
      <p:sp>
        <p:nvSpPr>
          <p:cNvPr id="300" name="Google Shape;300;p25"/>
          <p:cNvSpPr/>
          <p:nvPr/>
        </p:nvSpPr>
        <p:spPr>
          <a:xfrm>
            <a:off x="3318100" y="1469377"/>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940">
                <a:solidFill>
                  <a:schemeClr val="lt1"/>
                </a:solidFill>
              </a:rPr>
              <a:t>Ethics Matter</a:t>
            </a:r>
            <a:endParaRPr b="1" i="1" sz="940">
              <a:solidFill>
                <a:schemeClr val="lt1"/>
              </a:solidFill>
            </a:endParaRPr>
          </a:p>
        </p:txBody>
      </p:sp>
      <p:sp>
        <p:nvSpPr>
          <p:cNvPr id="301" name="Google Shape;301;p25"/>
          <p:cNvSpPr/>
          <p:nvPr/>
        </p:nvSpPr>
        <p:spPr>
          <a:xfrm>
            <a:off x="6202400" y="2083652"/>
            <a:ext cx="1068000" cy="1085100"/>
          </a:xfrm>
          <a:prstGeom prst="ellipse">
            <a:avLst/>
          </a:prstGeom>
          <a:solidFill>
            <a:srgbClr val="E71F72"/>
          </a:solidFill>
          <a:ln cap="flat" cmpd="sng" w="4350">
            <a:solidFill>
              <a:srgbClr val="26BDE2"/>
            </a:solidFill>
            <a:prstDash val="solid"/>
            <a:round/>
            <a:headEnd len="sm" w="sm" type="none"/>
            <a:tailEnd len="sm" w="sm" type="none"/>
          </a:ln>
        </p:spPr>
        <p:txBody>
          <a:bodyPr anchorCtr="0" anchor="ctr" bIns="41825" lIns="41825" spcFirstLastPara="1" rIns="41825" wrap="square" tIns="41825">
            <a:noAutofit/>
          </a:bodyPr>
          <a:lstStyle/>
          <a:p>
            <a:pPr indent="0" lvl="0" marL="0" rtl="0" algn="ctr">
              <a:spcBef>
                <a:spcPts val="0"/>
              </a:spcBef>
              <a:spcAft>
                <a:spcPts val="0"/>
              </a:spcAft>
              <a:buNone/>
            </a:pPr>
            <a:r>
              <a:rPr b="1" i="1" lang="en" sz="940">
                <a:solidFill>
                  <a:schemeClr val="lt1"/>
                </a:solidFill>
              </a:rPr>
              <a:t>Proactive Planning Wins</a:t>
            </a:r>
            <a:endParaRPr b="1" i="1" sz="94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689D"/>
            </a:gs>
            <a:gs pos="100000">
              <a:srgbClr val="014F76"/>
            </a:gs>
          </a:gsLst>
          <a:lin ang="2700006" scaled="0"/>
        </a:gradFill>
      </p:bgPr>
    </p:bg>
    <p:spTree>
      <p:nvGrpSpPr>
        <p:cNvPr id="305" name="Shape 305"/>
        <p:cNvGrpSpPr/>
        <p:nvPr/>
      </p:nvGrpSpPr>
      <p:grpSpPr>
        <a:xfrm>
          <a:off x="0" y="0"/>
          <a:ext cx="0" cy="0"/>
          <a:chOff x="0" y="0"/>
          <a:chExt cx="0" cy="0"/>
        </a:xfrm>
      </p:grpSpPr>
      <p:pic>
        <p:nvPicPr>
          <p:cNvPr id="306" name="Google Shape;306;p26" title="Element.png"/>
          <p:cNvPicPr preferRelativeResize="0"/>
          <p:nvPr/>
        </p:nvPicPr>
        <p:blipFill rotWithShape="1">
          <a:blip r:embed="rId3">
            <a:alphaModFix/>
          </a:blip>
          <a:srcRect b="0" l="0" r="42485" t="28987"/>
          <a:stretch/>
        </p:blipFill>
        <p:spPr>
          <a:xfrm>
            <a:off x="7820575" y="0"/>
            <a:ext cx="1323425" cy="1649326"/>
          </a:xfrm>
          <a:prstGeom prst="rect">
            <a:avLst/>
          </a:prstGeom>
          <a:noFill/>
          <a:ln>
            <a:noFill/>
          </a:ln>
        </p:spPr>
      </p:pic>
      <p:grpSp>
        <p:nvGrpSpPr>
          <p:cNvPr id="307" name="Google Shape;307;p26"/>
          <p:cNvGrpSpPr/>
          <p:nvPr/>
        </p:nvGrpSpPr>
        <p:grpSpPr>
          <a:xfrm>
            <a:off x="2106601" y="2834372"/>
            <a:ext cx="4930808" cy="1283875"/>
            <a:chOff x="0" y="0"/>
            <a:chExt cx="9006042" cy="2344978"/>
          </a:xfrm>
        </p:grpSpPr>
        <p:sp>
          <p:nvSpPr>
            <p:cNvPr id="308" name="Google Shape;308;p26"/>
            <p:cNvSpPr/>
            <p:nvPr/>
          </p:nvSpPr>
          <p:spPr>
            <a:xfrm>
              <a:off x="5557854" y="995449"/>
              <a:ext cx="3448188" cy="1133592"/>
            </a:xfrm>
            <a:custGeom>
              <a:rect b="b" l="l" r="r" t="t"/>
              <a:pathLst>
                <a:path extrusionOk="0" h="1133592" w="3448188">
                  <a:moveTo>
                    <a:pt x="0" y="0"/>
                  </a:moveTo>
                  <a:lnTo>
                    <a:pt x="3448188" y="0"/>
                  </a:lnTo>
                  <a:lnTo>
                    <a:pt x="3448188" y="1133592"/>
                  </a:lnTo>
                  <a:lnTo>
                    <a:pt x="0" y="1133592"/>
                  </a:lnTo>
                  <a:lnTo>
                    <a:pt x="0" y="0"/>
                  </a:lnTo>
                  <a:close/>
                </a:path>
              </a:pathLst>
            </a:custGeom>
            <a:blipFill rotWithShape="1">
              <a:blip r:embed="rId4">
                <a:alphaModFix/>
              </a:blip>
              <a:stretch>
                <a:fillRect b="0" l="0" r="0" t="0"/>
              </a:stretch>
            </a:blipFill>
            <a:ln>
              <a:noFill/>
            </a:ln>
          </p:spPr>
        </p:sp>
        <p:sp>
          <p:nvSpPr>
            <p:cNvPr id="309" name="Google Shape;309;p26"/>
            <p:cNvSpPr/>
            <p:nvPr/>
          </p:nvSpPr>
          <p:spPr>
            <a:xfrm>
              <a:off x="0" y="0"/>
              <a:ext cx="2344978" cy="2344978"/>
            </a:xfrm>
            <a:custGeom>
              <a:rect b="b" l="l" r="r" t="t"/>
              <a:pathLst>
                <a:path extrusionOk="0" h="2344978" w="2344978">
                  <a:moveTo>
                    <a:pt x="0" y="0"/>
                  </a:moveTo>
                  <a:lnTo>
                    <a:pt x="2344978" y="0"/>
                  </a:lnTo>
                  <a:lnTo>
                    <a:pt x="2344978" y="2344978"/>
                  </a:lnTo>
                  <a:lnTo>
                    <a:pt x="0" y="2344978"/>
                  </a:lnTo>
                  <a:lnTo>
                    <a:pt x="0" y="0"/>
                  </a:lnTo>
                  <a:close/>
                </a:path>
              </a:pathLst>
            </a:custGeom>
            <a:blipFill rotWithShape="1">
              <a:blip r:embed="rId5">
                <a:alphaModFix/>
              </a:blip>
              <a:stretch>
                <a:fillRect b="0" l="-20549" r="-20539" t="0"/>
              </a:stretch>
            </a:blipFill>
            <a:ln>
              <a:noFill/>
            </a:ln>
          </p:spPr>
        </p:sp>
        <p:sp>
          <p:nvSpPr>
            <p:cNvPr id="310" name="Google Shape;310;p26"/>
            <p:cNvSpPr/>
            <p:nvPr/>
          </p:nvSpPr>
          <p:spPr>
            <a:xfrm>
              <a:off x="2509521" y="1172933"/>
              <a:ext cx="2883789" cy="778623"/>
            </a:xfrm>
            <a:custGeom>
              <a:rect b="b" l="l" r="r" t="t"/>
              <a:pathLst>
                <a:path extrusionOk="0" h="778623" w="2883789">
                  <a:moveTo>
                    <a:pt x="0" y="0"/>
                  </a:moveTo>
                  <a:lnTo>
                    <a:pt x="2883789" y="0"/>
                  </a:lnTo>
                  <a:lnTo>
                    <a:pt x="2883789" y="778623"/>
                  </a:lnTo>
                  <a:lnTo>
                    <a:pt x="0" y="778623"/>
                  </a:lnTo>
                  <a:lnTo>
                    <a:pt x="0" y="0"/>
                  </a:lnTo>
                  <a:close/>
                </a:path>
              </a:pathLst>
            </a:custGeom>
            <a:blipFill rotWithShape="1">
              <a:blip r:embed="rId6">
                <a:alphaModFix/>
              </a:blip>
              <a:stretch>
                <a:fillRect b="0" l="0" r="0" t="0"/>
              </a:stretch>
            </a:blipFill>
            <a:ln>
              <a:noFill/>
            </a:ln>
          </p:spPr>
        </p:sp>
      </p:grpSp>
      <p:sp>
        <p:nvSpPr>
          <p:cNvPr id="311" name="Google Shape;311;p26"/>
          <p:cNvSpPr txBox="1"/>
          <p:nvPr/>
        </p:nvSpPr>
        <p:spPr>
          <a:xfrm>
            <a:off x="1323475" y="4169700"/>
            <a:ext cx="64971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FFFFFF"/>
                </a:solidFill>
                <a:latin typeface="Poppins ExtraBold"/>
                <a:ea typeface="Poppins ExtraBold"/>
                <a:cs typeface="Poppins ExtraBold"/>
                <a:sym typeface="Poppins ExtraBold"/>
              </a:rPr>
              <a:t>SDG BLOCKCHAIN ACCELERATOR</a:t>
            </a:r>
            <a:endParaRPr sz="1700">
              <a:solidFill>
                <a:srgbClr val="FFFFFF"/>
              </a:solidFill>
              <a:latin typeface="Poppins ExtraBold"/>
              <a:ea typeface="Poppins ExtraBold"/>
              <a:cs typeface="Poppins ExtraBold"/>
              <a:sym typeface="Poppins ExtraBold"/>
            </a:endParaRPr>
          </a:p>
        </p:txBody>
      </p:sp>
      <p:cxnSp>
        <p:nvCxnSpPr>
          <p:cNvPr id="312" name="Google Shape;312;p26"/>
          <p:cNvCxnSpPr/>
          <p:nvPr/>
        </p:nvCxnSpPr>
        <p:spPr>
          <a:xfrm>
            <a:off x="1834825" y="4118250"/>
            <a:ext cx="5604600" cy="0"/>
          </a:xfrm>
          <a:prstGeom prst="straightConnector1">
            <a:avLst/>
          </a:prstGeom>
          <a:noFill/>
          <a:ln cap="flat" cmpd="sng" w="19050">
            <a:solidFill>
              <a:srgbClr val="FBC410"/>
            </a:solidFill>
            <a:prstDash val="solid"/>
            <a:round/>
            <a:headEnd len="med" w="med" type="none"/>
            <a:tailEnd len="med" w="med" type="none"/>
          </a:ln>
        </p:spPr>
      </p:cxnSp>
      <p:sp>
        <p:nvSpPr>
          <p:cNvPr id="313" name="Google Shape;313;p26"/>
          <p:cNvSpPr/>
          <p:nvPr/>
        </p:nvSpPr>
        <p:spPr>
          <a:xfrm rot="1072722">
            <a:off x="-1581049" y="3917616"/>
            <a:ext cx="3191379" cy="1749939"/>
          </a:xfrm>
          <a:custGeom>
            <a:rect b="b" l="l" r="r" t="t"/>
            <a:pathLst>
              <a:path extrusionOk="0" h="3069921" w="5598641">
                <a:moveTo>
                  <a:pt x="0" y="0"/>
                </a:moveTo>
                <a:lnTo>
                  <a:pt x="5598640" y="0"/>
                </a:lnTo>
                <a:lnTo>
                  <a:pt x="5598640" y="3069921"/>
                </a:lnTo>
                <a:lnTo>
                  <a:pt x="0" y="3069921"/>
                </a:lnTo>
                <a:lnTo>
                  <a:pt x="0" y="0"/>
                </a:lnTo>
                <a:close/>
              </a:path>
            </a:pathLst>
          </a:custGeom>
          <a:blipFill rotWithShape="1">
            <a:blip r:embed="rId7">
              <a:alphaModFix/>
            </a:blip>
            <a:stretch>
              <a:fillRect b="0" l="0" r="0" t="0"/>
            </a:stretch>
          </a:blipFill>
          <a:ln>
            <a:noFill/>
          </a:ln>
        </p:spPr>
      </p:sp>
      <p:sp>
        <p:nvSpPr>
          <p:cNvPr id="314" name="Google Shape;314;p26"/>
          <p:cNvSpPr txBox="1"/>
          <p:nvPr/>
        </p:nvSpPr>
        <p:spPr>
          <a:xfrm>
            <a:off x="1323475" y="2093400"/>
            <a:ext cx="64971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rgbClr val="FFFFFF"/>
                </a:solidFill>
                <a:latin typeface="Poppins ExtraBold"/>
                <a:ea typeface="Poppins ExtraBold"/>
                <a:cs typeface="Poppins ExtraBold"/>
                <a:sym typeface="Poppins ExtraBold"/>
              </a:rPr>
              <a:t>Thank You &amp; Let’s Build the Future Together</a:t>
            </a:r>
            <a:endParaRPr sz="1900">
              <a:solidFill>
                <a:srgbClr val="FFFFFF"/>
              </a:solidFill>
              <a:latin typeface="Poppins ExtraBold"/>
              <a:ea typeface="Poppins ExtraBold"/>
              <a:cs typeface="Poppins ExtraBold"/>
              <a:sym typeface="Poppins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