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Poppins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33" Type="http://schemas.openxmlformats.org/officeDocument/2006/relationships/font" Target="fonts/Poppins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b2d50378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b2d50378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92e547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92e547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92e5475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92e5475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9430bc8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9430bc8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430bc8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9430bc8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b2d50378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b2d50378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b2d50378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b2d50378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b2d50378c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b2d50378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9430bc8f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9430bc8f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9430bc8f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9430bc8f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9430bc8f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9430bc8f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9430bc8f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9430bc8f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3b31b348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3b31b348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hyperlink" Target="https://innovation.eurasia.undp.org/sdg-blockchain-accelerator-call-for-blockchain-solution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0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ement.png"/>
          <p:cNvPicPr preferRelativeResize="0"/>
          <p:nvPr/>
        </p:nvPicPr>
        <p:blipFill rotWithShape="1">
          <a:blip r:embed="rId3">
            <a:alphaModFix/>
          </a:blip>
          <a:srcRect b="0" l="0" r="42485" t="28987"/>
          <a:stretch/>
        </p:blipFill>
        <p:spPr>
          <a:xfrm>
            <a:off x="7820575" y="0"/>
            <a:ext cx="1323425" cy="1649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1194731" y="221455"/>
            <a:ext cx="6754532" cy="1758734"/>
            <a:chOff x="0" y="0"/>
            <a:chExt cx="9006042" cy="2344978"/>
          </a:xfrm>
        </p:grpSpPr>
        <p:sp>
          <p:nvSpPr>
            <p:cNvPr id="56" name="Google Shape;56;p13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7" name="Google Shape;57;p13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9" name="Google Shape;59;p13"/>
          <p:cNvSpPr txBox="1"/>
          <p:nvPr/>
        </p:nvSpPr>
        <p:spPr>
          <a:xfrm>
            <a:off x="1323475" y="2340900"/>
            <a:ext cx="6497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SDG BLOCKCHAIN ACCELERATOR</a:t>
            </a:r>
            <a:endParaRPr sz="2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60" name="Google Shape;60;p13"/>
          <p:cNvCxnSpPr/>
          <p:nvPr/>
        </p:nvCxnSpPr>
        <p:spPr>
          <a:xfrm>
            <a:off x="1911025" y="3078075"/>
            <a:ext cx="56046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 rot="1992165">
            <a:off x="-1579015" y="3915825"/>
            <a:ext cx="3194968" cy="1751907"/>
          </a:xfrm>
          <a:custGeom>
            <a:rect b="b" l="l" r="r" t="t"/>
            <a:pathLst>
              <a:path extrusionOk="0" h="3069921" w="5598641">
                <a:moveTo>
                  <a:pt x="0" y="0"/>
                </a:moveTo>
                <a:lnTo>
                  <a:pt x="5598640" y="0"/>
                </a:lnTo>
                <a:lnTo>
                  <a:pt x="5598640" y="3069921"/>
                </a:lnTo>
                <a:lnTo>
                  <a:pt x="0" y="3069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3">
            <a:hlinkClick r:id="rId8"/>
          </p:cNvPr>
          <p:cNvSpPr/>
          <p:nvPr/>
        </p:nvSpPr>
        <p:spPr>
          <a:xfrm>
            <a:off x="1387788" y="3421075"/>
            <a:ext cx="6368400" cy="4434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management and compliance requirements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11700" y="2819738"/>
            <a:ext cx="41634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Collecting feedback from your stakeholders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Thinking about your pilot with your COs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Pitch &amp; mentor sessions 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Potential partnerships 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Thinking </a:t>
            </a: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beyond</a:t>
            </a: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PoC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management and compliance 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" name="Google Shape;68;p14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50000" y="622225"/>
            <a:ext cx="646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CONGRATULATIONS ON YOUR PROGRESS!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711600" y="1167313"/>
            <a:ext cx="57924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431100" y="1420475"/>
            <a:ext cx="58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Most of you are now finalizing the rapid prototyping sprint and are working on DEMOs, and documentation. 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644727" y="3584205"/>
            <a:ext cx="2155118" cy="708495"/>
          </a:xfrm>
          <a:custGeom>
            <a:rect b="b" l="l" r="r" t="t"/>
            <a:pathLst>
              <a:path extrusionOk="0" h="1133592" w="3448188">
                <a:moveTo>
                  <a:pt x="0" y="0"/>
                </a:moveTo>
                <a:lnTo>
                  <a:pt x="3448188" y="0"/>
                </a:lnTo>
                <a:lnTo>
                  <a:pt x="3448188" y="1133592"/>
                </a:lnTo>
                <a:lnTo>
                  <a:pt x="0" y="1133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4"/>
          <p:cNvSpPr/>
          <p:nvPr/>
        </p:nvSpPr>
        <p:spPr>
          <a:xfrm>
            <a:off x="6946002" y="1318302"/>
            <a:ext cx="1465611" cy="1465611"/>
          </a:xfrm>
          <a:custGeom>
            <a:rect b="b" l="l" r="r" t="t"/>
            <a:pathLst>
              <a:path extrusionOk="0" h="2344978" w="2344978">
                <a:moveTo>
                  <a:pt x="0" y="0"/>
                </a:moveTo>
                <a:lnTo>
                  <a:pt x="2344978" y="0"/>
                </a:lnTo>
                <a:lnTo>
                  <a:pt x="2344978" y="2344978"/>
                </a:lnTo>
                <a:lnTo>
                  <a:pt x="0" y="2344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549" r="-20539" t="0"/>
            </a:stretch>
          </a:blipFill>
          <a:ln>
            <a:noFill/>
          </a:ln>
        </p:spPr>
      </p:sp>
      <p:sp>
        <p:nvSpPr>
          <p:cNvPr id="74" name="Google Shape;74;p14"/>
          <p:cNvSpPr/>
          <p:nvPr/>
        </p:nvSpPr>
        <p:spPr>
          <a:xfrm>
            <a:off x="6820992" y="2895957"/>
            <a:ext cx="1802368" cy="486639"/>
          </a:xfrm>
          <a:custGeom>
            <a:rect b="b" l="l" r="r" t="t"/>
            <a:pathLst>
              <a:path extrusionOk="0" h="778623" w="2883789">
                <a:moveTo>
                  <a:pt x="0" y="0"/>
                </a:moveTo>
                <a:lnTo>
                  <a:pt x="2883789" y="0"/>
                </a:lnTo>
                <a:lnTo>
                  <a:pt x="2883789" y="778623"/>
                </a:lnTo>
                <a:lnTo>
                  <a:pt x="0" y="778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14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14"/>
          <p:cNvSpPr/>
          <p:nvPr/>
        </p:nvSpPr>
        <p:spPr>
          <a:xfrm>
            <a:off x="431100" y="2331032"/>
            <a:ext cx="3218100" cy="3837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Now is the perfect time to start: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5744875" y="1501500"/>
            <a:ext cx="2943600" cy="2943600"/>
          </a:xfrm>
          <a:prstGeom prst="ellipse">
            <a:avLst/>
          </a:prstGeom>
          <a:noFill/>
          <a:ln cap="flat" cmpd="sng" w="9525">
            <a:solidFill>
              <a:srgbClr val="26B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83" name="Google Shape;83;p15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4" name="Google Shape;84;p15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85" name="Google Shape;85;p15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6" name="Google Shape;86;p15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5"/>
          <p:cNvSpPr txBox="1"/>
          <p:nvPr/>
        </p:nvSpPr>
        <p:spPr>
          <a:xfrm>
            <a:off x="431100" y="317425"/>
            <a:ext cx="3619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Compliance Matters?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88" name="Google Shape;88;p15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5"/>
          <p:cNvSpPr txBox="1"/>
          <p:nvPr/>
        </p:nvSpPr>
        <p:spPr>
          <a:xfrm>
            <a:off x="802225" y="2594850"/>
            <a:ext cx="41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Blockchain 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= transparency, efficiency, and scale for SDGs.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50500" y="2704281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786475" y="3052025"/>
            <a:ext cx="416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But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unmanaged risks can derail impact projects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50500" y="3153981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786475" y="3464850"/>
            <a:ext cx="416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Donors, governments, and communities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need trust and accountability.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50500" y="3566806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5" title="compliance-for-financial-service-provider.jpg"/>
          <p:cNvPicPr preferRelativeResize="0"/>
          <p:nvPr/>
        </p:nvPicPr>
        <p:blipFill rotWithShape="1">
          <a:blip r:embed="rId7">
            <a:alphaModFix/>
          </a:blip>
          <a:srcRect b="0" l="35903" r="7866" t="0"/>
          <a:stretch/>
        </p:blipFill>
        <p:spPr>
          <a:xfrm>
            <a:off x="5850625" y="1588446"/>
            <a:ext cx="2748600" cy="277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431100" y="1572175"/>
            <a:ext cx="531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SDG Blockchain Accelerator supports organizations building 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solutions contributing to the UN SDGs.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Risk management and compliance are a big thing to 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consider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!!!!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5" title="Element.png"/>
          <p:cNvPicPr preferRelativeResize="0"/>
          <p:nvPr/>
        </p:nvPicPr>
        <p:blipFill rotWithShape="1">
          <a:blip r:embed="rId8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786475" y="3922050"/>
            <a:ext cx="416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= license to operate in the impact ecosystem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50500" y="4024006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05" name="Google Shape;105;p16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6" name="Google Shape;106;p16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107" name="Google Shape;107;p16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08" name="Google Shape;108;p16"/>
          <p:cNvSpPr txBox="1"/>
          <p:nvPr/>
        </p:nvSpPr>
        <p:spPr>
          <a:xfrm>
            <a:off x="-131225" y="622225"/>
            <a:ext cx="474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Compliance in the SDG Context</a:t>
            </a:r>
            <a:endParaRPr sz="20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97900" y="2884250"/>
            <a:ext cx="761700" cy="7617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2"/>
          </a:p>
        </p:txBody>
      </p:sp>
      <p:sp>
        <p:nvSpPr>
          <p:cNvPr id="110" name="Google Shape;110;p16"/>
          <p:cNvSpPr/>
          <p:nvPr/>
        </p:nvSpPr>
        <p:spPr>
          <a:xfrm>
            <a:off x="297875" y="3990125"/>
            <a:ext cx="761700" cy="7617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ctr" bIns="75300" lIns="75300" spcFirstLastPara="1" rIns="75300" wrap="square" tIns="75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2"/>
          </a:p>
        </p:txBody>
      </p:sp>
      <p:sp>
        <p:nvSpPr>
          <p:cNvPr id="111" name="Google Shape;111;p16"/>
          <p:cNvSpPr txBox="1"/>
          <p:nvPr/>
        </p:nvSpPr>
        <p:spPr>
          <a:xfrm>
            <a:off x="1168012" y="3067650"/>
            <a:ext cx="27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Donor expectations:</a:t>
            </a:r>
            <a:b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transparency and traceability.</a:t>
            </a:r>
            <a:endParaRPr b="1"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167995" y="4217088"/>
            <a:ext cx="305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Community expectations: </a:t>
            </a:r>
            <a:endParaRPr b="1"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fairness and inclusion.</a:t>
            </a:r>
            <a:endParaRPr b="1" sz="1000"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301665" y="1778488"/>
            <a:ext cx="761563" cy="761563"/>
            <a:chOff x="2909625" y="958406"/>
            <a:chExt cx="924900" cy="924900"/>
          </a:xfrm>
        </p:grpSpPr>
        <p:sp>
          <p:nvSpPr>
            <p:cNvPr id="114" name="Google Shape;114;p16"/>
            <p:cNvSpPr/>
            <p:nvPr/>
          </p:nvSpPr>
          <p:spPr>
            <a:xfrm>
              <a:off x="2909625" y="958406"/>
              <a:ext cx="924900" cy="924900"/>
            </a:xfrm>
            <a:prstGeom prst="rect">
              <a:avLst/>
            </a:prstGeom>
            <a:solidFill>
              <a:srgbClr val="FBC410"/>
            </a:solidFill>
            <a:ln>
              <a:noFill/>
            </a:ln>
          </p:spPr>
          <p:txBody>
            <a:bodyPr anchorCtr="0" anchor="ctr" bIns="75275" lIns="75275" spcFirstLastPara="1" rIns="75275" wrap="square" tIns="7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  <p:pic>
          <p:nvPicPr>
            <p:cNvPr id="115" name="Google Shape;115;p16" title="Eye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53563" y="1097613"/>
              <a:ext cx="646500" cy="646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" name="Google Shape;116;p16" title="blockchai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506" y="4104768"/>
            <a:ext cx="532424" cy="5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title="Money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527" y="2998888"/>
            <a:ext cx="532398" cy="532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9" name="Google Shape;119;p16" title="Element.png"/>
          <p:cNvPicPr preferRelativeResize="0"/>
          <p:nvPr/>
        </p:nvPicPr>
        <p:blipFill rotWithShape="1">
          <a:blip r:embed="rId10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749600" y="1563400"/>
            <a:ext cx="4031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Compliance is not just a box-ticking exercise. For SDG projects, it’s about ensuring responsible innovation that protects beneficiaries, satisfies donor requirements, and withstands regulatory scrutiny.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SDG projects operate in complex environments. Governments want legal compliance, donors need clear reporting, and local communities expect fairness. Ignoring any of these dimensions risks undermining the entire solution.</a:t>
            </a:r>
            <a:endParaRPr sz="1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1168000" y="1918200"/>
            <a:ext cx="298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Regulatory expectations: </a:t>
            </a:r>
            <a:b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adherence to laws in different </a:t>
            </a:r>
            <a:r>
              <a:rPr b="1"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jurisdictions</a:t>
            </a:r>
            <a:endParaRPr b="1"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idx="1" type="subTitle"/>
          </p:nvPr>
        </p:nvSpPr>
        <p:spPr>
          <a:xfrm>
            <a:off x="77150" y="2846075"/>
            <a:ext cx="27864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KYC/AML/CFT.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 classification.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Licensing and sandboxes.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7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350000" y="622225"/>
            <a:ext cx="4592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Key Compliance Areas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>
            <a:off x="711600" y="1167313"/>
            <a:ext cx="4754400" cy="51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7"/>
          <p:cNvSpPr txBox="1"/>
          <p:nvPr/>
        </p:nvSpPr>
        <p:spPr>
          <a:xfrm>
            <a:off x="431100" y="1420475"/>
            <a:ext cx="5805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Each solution must evaluate compliance requirements across finance, data, and ESG. Missing one can create legal exposure, privacy breaches, or reputational harm.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552527" y="4286280"/>
            <a:ext cx="2155118" cy="708495"/>
          </a:xfrm>
          <a:custGeom>
            <a:rect b="b" l="l" r="r" t="t"/>
            <a:pathLst>
              <a:path extrusionOk="0" h="1133592" w="3448188">
                <a:moveTo>
                  <a:pt x="0" y="0"/>
                </a:moveTo>
                <a:lnTo>
                  <a:pt x="3448188" y="0"/>
                </a:lnTo>
                <a:lnTo>
                  <a:pt x="3448188" y="1133592"/>
                </a:lnTo>
                <a:lnTo>
                  <a:pt x="0" y="1133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7"/>
          <p:cNvSpPr/>
          <p:nvPr/>
        </p:nvSpPr>
        <p:spPr>
          <a:xfrm>
            <a:off x="7716977" y="3607702"/>
            <a:ext cx="1465611" cy="1465611"/>
          </a:xfrm>
          <a:custGeom>
            <a:rect b="b" l="l" r="r" t="t"/>
            <a:pathLst>
              <a:path extrusionOk="0" h="2344978" w="2344978">
                <a:moveTo>
                  <a:pt x="0" y="0"/>
                </a:moveTo>
                <a:lnTo>
                  <a:pt x="2344978" y="0"/>
                </a:lnTo>
                <a:lnTo>
                  <a:pt x="2344978" y="2344978"/>
                </a:lnTo>
                <a:lnTo>
                  <a:pt x="0" y="2344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549" r="-20539" t="0"/>
            </a:stretch>
          </a:blip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>
            <a:off x="229567" y="4359457"/>
            <a:ext cx="1802368" cy="486639"/>
          </a:xfrm>
          <a:custGeom>
            <a:rect b="b" l="l" r="r" t="t"/>
            <a:pathLst>
              <a:path extrusionOk="0" h="778623" w="2883789">
                <a:moveTo>
                  <a:pt x="0" y="0"/>
                </a:moveTo>
                <a:lnTo>
                  <a:pt x="2883789" y="0"/>
                </a:lnTo>
                <a:lnTo>
                  <a:pt x="2883789" y="778623"/>
                </a:lnTo>
                <a:lnTo>
                  <a:pt x="0" y="778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7"/>
          <p:cNvSpPr/>
          <p:nvPr/>
        </p:nvSpPr>
        <p:spPr>
          <a:xfrm>
            <a:off x="7400594" y="-928083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7"/>
          <p:cNvSpPr/>
          <p:nvPr/>
        </p:nvSpPr>
        <p:spPr>
          <a:xfrm>
            <a:off x="735900" y="2331025"/>
            <a:ext cx="1417800" cy="3837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Financial &amp; Legal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524600" y="2331025"/>
            <a:ext cx="1417800" cy="3837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&amp; Privacy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6354150" y="2331025"/>
            <a:ext cx="1417800" cy="3837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 &amp; ESG Reporting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7"/>
          <p:cNvSpPr txBox="1"/>
          <p:nvPr>
            <p:ph idx="1" type="subTitle"/>
          </p:nvPr>
        </p:nvSpPr>
        <p:spPr>
          <a:xfrm>
            <a:off x="2744150" y="2846075"/>
            <a:ext cx="27864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GDPR + local laws.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Consent &amp; anonymization.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Privacy-preserving tech.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5792150" y="2846075"/>
            <a:ext cx="27864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Proof of funds.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Impact traceability.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SDG alignment.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8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46" name="Google Shape;146;p18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7" name="Google Shape;147;p18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148" name="Google Shape;148;p18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49" name="Google Shape;149;p18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-43100" y="622225"/>
            <a:ext cx="458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International Frameworks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8"/>
          <p:cNvSpPr/>
          <p:nvPr/>
        </p:nvSpPr>
        <p:spPr>
          <a:xfrm>
            <a:off x="401450" y="272517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global guidelines for preventing illicit financial flows.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Encourages KYC, monitoring, and suspicious transaction reporting.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Relevant for blockchain-based financial services to avoid blacklisting or sanctions.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33375" y="2152425"/>
            <a:ext cx="1797600" cy="4062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📘 </a:t>
            </a: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FATF: Anti-Money Laundering Standards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2458850" y="27251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Sets strict rules on personal data collection, storage, and sharing.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Grants users rights such as consent, access, correction, and erasure.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Applicable to any project handling data of EU citizens, but also widely adopted as best practice.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2490775" y="2152425"/>
            <a:ext cx="1797600" cy="4062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📘 </a:t>
            </a: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GDPR: Benchmark for Privacy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516250" y="27251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Establishes environmental, social, and governance reporting standards.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Encourages transparency in sustainability practices.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Aligns blockchain-based SDG solutions with investor and donor reporting needs.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548175" y="2152425"/>
            <a:ext cx="1797600" cy="4062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📘 </a:t>
            </a: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OECD ESG Reporting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573650" y="27251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 on human-centered design, openness, reusability, and sustainability.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Emphasize inclusion and accessibility in digital solutions.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Char char="-"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guidelines for ethical technology deployment in development contexts.</a:t>
            </a:r>
            <a:endParaRPr sz="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605575" y="2152425"/>
            <a:ext cx="1797600" cy="406200"/>
          </a:xfrm>
          <a:prstGeom prst="rect">
            <a:avLst/>
          </a:prstGeom>
          <a:solidFill>
            <a:srgbClr val="26BDE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📘 </a:t>
            </a: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UNDP Digital Standards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31100" y="1420475"/>
            <a:ext cx="5805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Teams should align with international frameworks to ensure interoperability and donor acceptance. Even if local laws are weaker, global compliance standards provide credibility.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398125" y="1586547"/>
            <a:ext cx="7641900" cy="94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of sudden changes in national or regional laws banning or restricting blockchain or token-related activities.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of fines or loss of licenses due to non-compliance with AML/KYC, securities regulations, or data protection laws.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Cross-border operations often face conflicting regulations that can stall or complicate deployment.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19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9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68" name="Google Shape;168;p19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p19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170" name="Google Shape;170;p19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1" name="Google Shape;171;p19"/>
          <p:cNvSpPr txBox="1"/>
          <p:nvPr/>
        </p:nvSpPr>
        <p:spPr>
          <a:xfrm>
            <a:off x="-131225" y="622225"/>
            <a:ext cx="4983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Risk Landscape (Overview)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72" name="Google Shape;172;p19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/>
          <p:nvPr/>
        </p:nvSpPr>
        <p:spPr>
          <a:xfrm>
            <a:off x="264425" y="1340316"/>
            <a:ext cx="24930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Exposure to penalties or shutdown</a:t>
            </a:r>
            <a:endParaRPr b="1" sz="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301825" y="48204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*SM: Solution Makers | CO: Challenge Owners</a:t>
            </a:r>
            <a:endParaRPr sz="1200"/>
          </a:p>
        </p:txBody>
      </p:sp>
      <p:sp>
        <p:nvSpPr>
          <p:cNvPr id="175" name="Google Shape;175;p19"/>
          <p:cNvSpPr/>
          <p:nvPr/>
        </p:nvSpPr>
        <p:spPr>
          <a:xfrm>
            <a:off x="855325" y="2729547"/>
            <a:ext cx="7641900" cy="94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Smart contract bugs, chain outages, or failed oracle integrations can cause financial and reputational damage.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Insufficient internal controls (e.g., poor key management, no disaster recovery) expose projects to theft or downtime.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Lack of vendor due diligence can lead to failures in external providers (cloud services, audit firms, off-ramp partners).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21625" y="2483316"/>
            <a:ext cx="24930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Failures in tech or processes</a:t>
            </a:r>
            <a:endParaRPr b="1" sz="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236325" y="3872547"/>
            <a:ext cx="7641900" cy="94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Association with illicit activities (money laundering, scams, rug pulls) damages credibility.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Overpromising and underdelivering on SDG goals risks being accused of “SDG-washing.”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Lack of transparency in impact reporting can erode trust among donors, investors, and regulators.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102625" y="3626316"/>
            <a:ext cx="24930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Negative publicity, loss of trust</a:t>
            </a:r>
            <a:endParaRPr b="1" sz="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0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84" name="Google Shape;184;p20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5" name="Google Shape;185;p20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186" name="Google Shape;186;p20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87" name="Google Shape;187;p20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8300" y="312850"/>
            <a:ext cx="449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Risk Management Framework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/>
          <p:nvPr/>
        </p:nvSpPr>
        <p:spPr>
          <a:xfrm>
            <a:off x="1255150" y="2310775"/>
            <a:ext cx="2116500" cy="262200"/>
          </a:xfrm>
          <a:prstGeom prst="parallelogram">
            <a:avLst>
              <a:gd fmla="val 25000" name="adj"/>
            </a:avLst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Identify</a:t>
            </a:r>
            <a:endParaRPr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flipH="1" rot="10800000">
            <a:off x="3345000" y="2483675"/>
            <a:ext cx="1505400" cy="2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2" name="Google Shape;192;p20"/>
          <p:cNvSpPr/>
          <p:nvPr/>
        </p:nvSpPr>
        <p:spPr>
          <a:xfrm>
            <a:off x="4874200" y="2310775"/>
            <a:ext cx="2509500" cy="262200"/>
          </a:xfrm>
          <a:prstGeom prst="parallelogram">
            <a:avLst>
              <a:gd fmla="val 25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 all potential risks.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3" name="Google Shape;193;p20"/>
          <p:cNvSpPr/>
          <p:nvPr/>
        </p:nvSpPr>
        <p:spPr>
          <a:xfrm rot="1799166">
            <a:off x="4465183" y="2357683"/>
            <a:ext cx="256308" cy="256308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178950" y="2691775"/>
            <a:ext cx="2116500" cy="262200"/>
          </a:xfrm>
          <a:prstGeom prst="parallelogram">
            <a:avLst>
              <a:gd fmla="val 25000" name="adj"/>
            </a:avLst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Assess</a:t>
            </a:r>
            <a:endParaRPr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flipH="1" rot="10800000">
            <a:off x="3268800" y="2864675"/>
            <a:ext cx="1505400" cy="2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6" name="Google Shape;196;p20"/>
          <p:cNvSpPr/>
          <p:nvPr/>
        </p:nvSpPr>
        <p:spPr>
          <a:xfrm>
            <a:off x="4798000" y="2691775"/>
            <a:ext cx="2509500" cy="262200"/>
          </a:xfrm>
          <a:prstGeom prst="parallelogram">
            <a:avLst>
              <a:gd fmla="val 25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Evaluate likelihood and impact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7" name="Google Shape;197;p20"/>
          <p:cNvSpPr/>
          <p:nvPr/>
        </p:nvSpPr>
        <p:spPr>
          <a:xfrm rot="1799166">
            <a:off x="4388983" y="2738683"/>
            <a:ext cx="256308" cy="256308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102750" y="3072775"/>
            <a:ext cx="2116500" cy="262200"/>
          </a:xfrm>
          <a:prstGeom prst="parallelogram">
            <a:avLst>
              <a:gd fmla="val 25000" name="adj"/>
            </a:avLst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Prioritize</a:t>
            </a:r>
            <a:endParaRPr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flipH="1" rot="10800000">
            <a:off x="3192600" y="3245675"/>
            <a:ext cx="1505400" cy="2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0" name="Google Shape;200;p20"/>
          <p:cNvSpPr/>
          <p:nvPr/>
        </p:nvSpPr>
        <p:spPr>
          <a:xfrm>
            <a:off x="4721800" y="3072775"/>
            <a:ext cx="2509500" cy="262200"/>
          </a:xfrm>
          <a:prstGeom prst="parallelogram">
            <a:avLst>
              <a:gd fmla="val 25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Focus on high-risk areas first.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1" name="Google Shape;201;p20"/>
          <p:cNvSpPr/>
          <p:nvPr/>
        </p:nvSpPr>
        <p:spPr>
          <a:xfrm rot="1799166">
            <a:off x="4312783" y="3119683"/>
            <a:ext cx="256308" cy="256308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026550" y="3453775"/>
            <a:ext cx="2116500" cy="262200"/>
          </a:xfrm>
          <a:prstGeom prst="parallelogram">
            <a:avLst>
              <a:gd fmla="val 25000" name="adj"/>
            </a:avLst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Mitigate</a:t>
            </a:r>
            <a:endParaRPr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 flipH="1" rot="10800000">
            <a:off x="3116400" y="3626675"/>
            <a:ext cx="1505400" cy="2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4" name="Google Shape;204;p20"/>
          <p:cNvSpPr/>
          <p:nvPr/>
        </p:nvSpPr>
        <p:spPr>
          <a:xfrm>
            <a:off x="4645600" y="3453775"/>
            <a:ext cx="2509500" cy="262200"/>
          </a:xfrm>
          <a:prstGeom prst="parallelogram">
            <a:avLst>
              <a:gd fmla="val 25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Apply safeguards and controls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5" name="Google Shape;205;p20"/>
          <p:cNvSpPr/>
          <p:nvPr/>
        </p:nvSpPr>
        <p:spPr>
          <a:xfrm rot="1799166">
            <a:off x="4236583" y="3500683"/>
            <a:ext cx="256308" cy="256308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950350" y="3834775"/>
            <a:ext cx="2116500" cy="262200"/>
          </a:xfrm>
          <a:prstGeom prst="parallelogram">
            <a:avLst>
              <a:gd fmla="val 25000" name="adj"/>
            </a:avLst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Monitor</a:t>
            </a:r>
            <a:endParaRPr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 flipH="1" rot="10800000">
            <a:off x="3040200" y="4007675"/>
            <a:ext cx="1505400" cy="2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8" name="Google Shape;208;p20"/>
          <p:cNvSpPr/>
          <p:nvPr/>
        </p:nvSpPr>
        <p:spPr>
          <a:xfrm>
            <a:off x="4569400" y="3834775"/>
            <a:ext cx="2509500" cy="262200"/>
          </a:xfrm>
          <a:prstGeom prst="parallelogram">
            <a:avLst>
              <a:gd fmla="val 25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Continuously review and adapt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9" name="Google Shape;209;p20"/>
          <p:cNvSpPr/>
          <p:nvPr/>
        </p:nvSpPr>
        <p:spPr>
          <a:xfrm rot="1799166">
            <a:off x="4160383" y="3881683"/>
            <a:ext cx="256308" cy="256308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31100" y="1420475"/>
            <a:ext cx="580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 management is a cycle, not a one-off task. Teams must regularly update their assessments and adapt to evolving risks and regulatory changes.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474325" y="2043750"/>
            <a:ext cx="6087600" cy="1102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Pinkoin / Inksnation (Nigeria, 2019–2021)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happened: Marketed itself as a "poverty eradication blockchain" promising universal basic income in Nigeria.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Failure: Shut down by the Nigerian SEC for operating illegally and misleading users.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lessons: No regulatory compliance, false claims on SDG impact, reputational collapse.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21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21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18" name="Google Shape;218;p21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9" name="Google Shape;219;p21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220" name="Google Shape;220;p21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21" name="Google Shape;221;p21"/>
          <p:cNvSpPr txBox="1"/>
          <p:nvPr/>
        </p:nvSpPr>
        <p:spPr>
          <a:xfrm>
            <a:off x="-131225" y="622225"/>
            <a:ext cx="4983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Case Studies (1)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1"/>
          <p:cNvSpPr/>
          <p:nvPr/>
        </p:nvSpPr>
        <p:spPr>
          <a:xfrm>
            <a:off x="7091194" y="3870767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1"/>
          <p:cNvSpPr txBox="1"/>
          <p:nvPr/>
        </p:nvSpPr>
        <p:spPr>
          <a:xfrm>
            <a:off x="660650" y="1313400"/>
            <a:ext cx="655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are real projects that failed due to regulatory mishaps 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50525" y="1797525"/>
            <a:ext cx="28155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Pinkoin / Inksnation (Nigeria, 2019–2021)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26725" y="3415350"/>
            <a:ext cx="6619500" cy="94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happened: A blockchain reward token for solar energy production. Initially received media attention but adoption was extremely low.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Failure: Lack of robust verification process for solar claims, limited partnerships, and poor user trust.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lessons: User adoption risk, operational risk in verification, reputational decline.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02925" y="3169125"/>
            <a:ext cx="28155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SolarCoin (2014–2021)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474325" y="2043750"/>
            <a:ext cx="6087600" cy="1102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 (SDG 13, Climate Action): Make carbon credits liquid, transparent, and tradeable on-chain.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Issue: Verra (the largest carbon registry) suspended the tokenization of its credits after governance gaps, fraud concerns, and risks of double counting surfaced.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Lesson: Climate-related blockchain projects must involve legacy institutions in governance or risk losing legitimacy.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3" name="Google Shape;233;p22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2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35" name="Google Shape;235;p22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6" name="Google Shape;236;p22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237" name="Google Shape;237;p22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8" name="Google Shape;238;p22"/>
          <p:cNvSpPr txBox="1"/>
          <p:nvPr/>
        </p:nvSpPr>
        <p:spPr>
          <a:xfrm>
            <a:off x="-131225" y="622225"/>
            <a:ext cx="4983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Case Studies (2)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2"/>
          <p:cNvSpPr/>
          <p:nvPr/>
        </p:nvSpPr>
        <p:spPr>
          <a:xfrm>
            <a:off x="7091194" y="3870767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2"/>
          <p:cNvSpPr txBox="1"/>
          <p:nvPr/>
        </p:nvSpPr>
        <p:spPr>
          <a:xfrm>
            <a:off x="660650" y="1313400"/>
            <a:ext cx="655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are real projects that failed due to regulatory mishaps 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50525" y="1797525"/>
            <a:ext cx="28155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Verra’s Tokenized Carbon Credits (Toucan Protocol on Polygon)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26725" y="3415350"/>
            <a:ext cx="6619500" cy="94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 (SDG 7, Affordable &amp; Clean Energy): Let users crowdfund and lease solar panels via blockchain.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Issue: Faced regulatory hurdles and delays in several African markets because it wasn’t clear whether tokens represented securities. This slowed expansion.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Lesson: Energy projects touching finance must align early with securities regulators, otherwise SDG scaling is blocked.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02925" y="3169125"/>
            <a:ext cx="2815500" cy="306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Sun Exchange (Solar Micro-Leasing, Africa)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title="Element.png"/>
          <p:cNvPicPr preferRelativeResize="0"/>
          <p:nvPr/>
        </p:nvPicPr>
        <p:blipFill rotWithShape="1">
          <a:blip r:embed="rId3">
            <a:alphaModFix/>
          </a:blip>
          <a:srcRect b="0" l="0" r="42485" t="28987"/>
          <a:stretch/>
        </p:blipFill>
        <p:spPr>
          <a:xfrm>
            <a:off x="7820575" y="0"/>
            <a:ext cx="1323425" cy="164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1259100" y="1649325"/>
            <a:ext cx="6497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lesson</a:t>
            </a:r>
            <a:endParaRPr sz="2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1911025" y="2392275"/>
            <a:ext cx="56046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3"/>
          <p:cNvSpPr/>
          <p:nvPr/>
        </p:nvSpPr>
        <p:spPr>
          <a:xfrm rot="1992165">
            <a:off x="-1579015" y="3915825"/>
            <a:ext cx="3194968" cy="1751907"/>
          </a:xfrm>
          <a:custGeom>
            <a:rect b="b" l="l" r="r" t="t"/>
            <a:pathLst>
              <a:path extrusionOk="0" h="3069921" w="5598641">
                <a:moveTo>
                  <a:pt x="0" y="0"/>
                </a:moveTo>
                <a:lnTo>
                  <a:pt x="5598640" y="0"/>
                </a:lnTo>
                <a:lnTo>
                  <a:pt x="5598640" y="3069921"/>
                </a:lnTo>
                <a:lnTo>
                  <a:pt x="0" y="3069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3"/>
          <p:cNvSpPr/>
          <p:nvPr/>
        </p:nvSpPr>
        <p:spPr>
          <a:xfrm>
            <a:off x="1387800" y="2582875"/>
            <a:ext cx="6368400" cy="9936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 alone doesn’t guarantee resilience — compliance and trust do.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2091525" y="562725"/>
            <a:ext cx="4983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Case Studies (3)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4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60" name="Google Shape;260;p24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1" name="Google Shape;261;p24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262" name="Google Shape;262;p24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263" name="Google Shape;263;p24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-49650" y="449700"/>
            <a:ext cx="458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Stakeholders, Ethics &amp; Data Governance</a:t>
            </a:r>
            <a:endParaRPr sz="1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65" name="Google Shape;265;p24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4"/>
          <p:cNvSpPr/>
          <p:nvPr/>
        </p:nvSpPr>
        <p:spPr>
          <a:xfrm>
            <a:off x="1239650" y="280137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regulators, donors, local communities, NGOs, and users.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expectations and reporting requirements.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Tools: stakeholder matrix, engagement roadmap.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1271575" y="2228625"/>
            <a:ext cx="1797600" cy="406200"/>
          </a:xfrm>
          <a:prstGeom prst="rect">
            <a:avLst/>
          </a:prstGeom>
          <a:solidFill>
            <a:srgbClr val="FBC41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Stakeholder Mapping &amp; Engagement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297050" y="28013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Avoid “impact washing” or overpromising SDG outcomes.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Address unintended consequences (e.g., displacing local systems, digital exclusion).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 informed consent for data collection and participation.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3328975" y="2228625"/>
            <a:ext cx="1797600" cy="406200"/>
          </a:xfrm>
          <a:prstGeom prst="rect">
            <a:avLst/>
          </a:prstGeom>
          <a:solidFill>
            <a:srgbClr val="FBC41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Ethical Considerations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354450" y="28013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privacy-preserving technologies (zero-knowledge proofs, multi-party computation).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minimization, consent management, and cross-border transfer compliance.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Maintain clear records for audits and donors.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5386375" y="2228625"/>
            <a:ext cx="1797600" cy="406200"/>
          </a:xfrm>
          <a:prstGeom prst="rect">
            <a:avLst/>
          </a:prstGeom>
          <a:solidFill>
            <a:srgbClr val="FBC41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Governance &amp; Privacy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389475" y="1350488"/>
            <a:ext cx="7259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-Proactively addresses compliance and adoption risks, and helps build trust with all parties</a:t>
            </a:r>
            <a:b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-Ethical missteps can trigger reputational and regulatory risks, undermining project credibility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-GDPR and other privacy laws apply even for social-impact projects; strong data governance builds trust.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5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78" name="Google Shape;278;p25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9" name="Google Shape;279;p25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280" name="Google Shape;280;p25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281" name="Google Shape;281;p25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0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-49650" y="449700"/>
            <a:ext cx="458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Legal, Impact &amp; Crisis Management</a:t>
            </a:r>
            <a:endParaRPr sz="1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83" name="Google Shape;283;p25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5"/>
          <p:cNvSpPr/>
          <p:nvPr/>
        </p:nvSpPr>
        <p:spPr>
          <a:xfrm>
            <a:off x="1239650" y="280137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Choice of entity (foundation, DAO, for-profit) affects liability and compliance.</a:t>
            </a:r>
            <a:b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 classification: utility vs security vs stablecoin.</a:t>
            </a:r>
            <a:b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Licensing or sandbox opportunities in target jurisdictions.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1271575" y="2228625"/>
            <a:ext cx="1797600" cy="4062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Legal Structures for Blockchain Projects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297050" y="28013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Define SDG KPIs and measurable outcomes.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auditable blockchain records for verification.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Independent third-party validation.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3328975" y="2228625"/>
            <a:ext cx="1797600" cy="4062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 Measurement &amp; Reporting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354450" y="2801325"/>
            <a:ext cx="1911900" cy="19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Protocols for smart contract exploits, hacks, or operational failures.</a:t>
            </a:r>
            <a:b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Communication plan for stakeholders and media.</a:t>
            </a:r>
            <a:b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Insurance or reserve mechanisms for financial risk.</a:t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5386375" y="2228625"/>
            <a:ext cx="1797600" cy="4062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Crisis Management &amp; Contingency Planning</a:t>
            </a:r>
            <a:endParaRPr sz="9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389475" y="1350488"/>
            <a:ext cx="7259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Clarifies obligations and reduces regulatory exposure, enabling smoother scaling.</a:t>
            </a:r>
            <a:b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Transparent impact reporting increases donor trust and credibility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</a:t>
            </a:r>
            <a:r>
              <a:rPr lang="en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Ensures projects survive unexpected shocks while maintaining trust and credibility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title="Element.png"/>
          <p:cNvPicPr preferRelativeResize="0"/>
          <p:nvPr/>
        </p:nvPicPr>
        <p:blipFill rotWithShape="1">
          <a:blip r:embed="rId3">
            <a:alphaModFix/>
          </a:blip>
          <a:srcRect b="0" l="0" r="42485" t="28987"/>
          <a:stretch/>
        </p:blipFill>
        <p:spPr>
          <a:xfrm>
            <a:off x="7820575" y="0"/>
            <a:ext cx="1323425" cy="1649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26"/>
          <p:cNvGrpSpPr/>
          <p:nvPr/>
        </p:nvGrpSpPr>
        <p:grpSpPr>
          <a:xfrm>
            <a:off x="2106601" y="2834372"/>
            <a:ext cx="4930808" cy="1283875"/>
            <a:chOff x="0" y="0"/>
            <a:chExt cx="9006042" cy="2344978"/>
          </a:xfrm>
        </p:grpSpPr>
        <p:sp>
          <p:nvSpPr>
            <p:cNvPr id="297" name="Google Shape;297;p26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8" name="Google Shape;298;p26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49" r="-20539" t="0"/>
              </a:stretch>
            </a:blipFill>
            <a:ln>
              <a:noFill/>
            </a:ln>
          </p:spPr>
        </p:sp>
        <p:sp>
          <p:nvSpPr>
            <p:cNvPr id="299" name="Google Shape;299;p26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00" name="Google Shape;300;p26"/>
          <p:cNvSpPr txBox="1"/>
          <p:nvPr/>
        </p:nvSpPr>
        <p:spPr>
          <a:xfrm>
            <a:off x="1323475" y="4169700"/>
            <a:ext cx="649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SDG BLOCKCHAIN ACCELERATOR</a:t>
            </a:r>
            <a:endParaRPr sz="17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301" name="Google Shape;301;p26"/>
          <p:cNvCxnSpPr/>
          <p:nvPr/>
        </p:nvCxnSpPr>
        <p:spPr>
          <a:xfrm>
            <a:off x="1834825" y="4118250"/>
            <a:ext cx="56046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6"/>
          <p:cNvSpPr/>
          <p:nvPr/>
        </p:nvSpPr>
        <p:spPr>
          <a:xfrm rot="1072722">
            <a:off x="-1581049" y="3917616"/>
            <a:ext cx="3191379" cy="1749939"/>
          </a:xfrm>
          <a:custGeom>
            <a:rect b="b" l="l" r="r" t="t"/>
            <a:pathLst>
              <a:path extrusionOk="0" h="3069921" w="5598641">
                <a:moveTo>
                  <a:pt x="0" y="0"/>
                </a:moveTo>
                <a:lnTo>
                  <a:pt x="5598640" y="0"/>
                </a:lnTo>
                <a:lnTo>
                  <a:pt x="5598640" y="3069921"/>
                </a:lnTo>
                <a:lnTo>
                  <a:pt x="0" y="3069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6"/>
          <p:cNvSpPr txBox="1"/>
          <p:nvPr/>
        </p:nvSpPr>
        <p:spPr>
          <a:xfrm>
            <a:off x="1323475" y="2093400"/>
            <a:ext cx="6497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 &amp; Let’s Build the Future Together</a:t>
            </a:r>
            <a:endParaRPr sz="1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